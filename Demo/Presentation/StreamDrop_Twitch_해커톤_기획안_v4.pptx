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3e243e765594161" /><Relationship Type="http://schemas.openxmlformats.org/officeDocument/2006/relationships/extended-properties" Target="/docProps/app.xml" Id="Re577c89c84f848de" /><Relationship Type="http://schemas.openxmlformats.org/officeDocument/2006/relationships/officeDocument" Target="/ppt/presentation.xml" Id="Rbd601297965142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95261b1be0b49e6"/>
  </p:sldMasterIdLst>
  <p:notesMasterIdLst>
    <p:notesMasterId xmlns:r="http://schemas.openxmlformats.org/officeDocument/2006/relationships" r:id="R04b67db9129e4ce4"/>
  </p:notesMasterIdLst>
  <p:sldIdLst>
    <p:sldId xmlns:r="http://schemas.openxmlformats.org/officeDocument/2006/relationships" id="256" r:id="Rb229997265d246a0"/>
    <p:sldId xmlns:r="http://schemas.openxmlformats.org/officeDocument/2006/relationships" id="257" r:id="Rf03b8de3a5514ba9"/>
    <p:sldId xmlns:r="http://schemas.openxmlformats.org/officeDocument/2006/relationships" id="258" r:id="Rd6bd4ce5121c4501"/>
    <p:sldId xmlns:r="http://schemas.openxmlformats.org/officeDocument/2006/relationships" id="259" r:id="Rd302dd5ea2124fd6"/>
    <p:sldId xmlns:r="http://schemas.openxmlformats.org/officeDocument/2006/relationships" id="260" r:id="Rf65163152b5b4ac2"/>
    <p:sldId xmlns:r="http://schemas.openxmlformats.org/officeDocument/2006/relationships" id="261" r:id="Rbef0c36faba84086"/>
    <p:sldId xmlns:r="http://schemas.openxmlformats.org/officeDocument/2006/relationships" id="262" r:id="Re88d79fc48a94dff"/>
    <p:sldId xmlns:r="http://schemas.openxmlformats.org/officeDocument/2006/relationships" id="263" r:id="R46e788f9230d4e2f"/>
    <p:sldId xmlns:r="http://schemas.openxmlformats.org/officeDocument/2006/relationships" id="264" r:id="R1da4f2258a324f60"/>
    <p:sldId xmlns:r="http://schemas.openxmlformats.org/officeDocument/2006/relationships" id="265" r:id="Rf5dcbd978658451c"/>
    <p:sldId xmlns:r="http://schemas.openxmlformats.org/officeDocument/2006/relationships" id="266" r:id="Rf712f9c2d795414b"/>
    <p:sldId xmlns:r="http://schemas.openxmlformats.org/officeDocument/2006/relationships" id="267" r:id="Rf1f8e5a601bf4f3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715bcf2e6f045a6" /><Relationship Type="http://schemas.openxmlformats.org/officeDocument/2006/relationships/slideMaster" Target="/ppt/slideMasters/slideMaster1.xml" Id="Re95261b1be0b49e6" /><Relationship Type="http://schemas.openxmlformats.org/officeDocument/2006/relationships/notesMaster" Target="/ppt/notesMasters/notesMaster1.xml" Id="R04b67db9129e4ce4" /><Relationship Type="http://schemas.openxmlformats.org/officeDocument/2006/relationships/presProps" Target="/ppt/presProps.xml" Id="R572285c646af4019" /><Relationship Type="http://schemas.openxmlformats.org/officeDocument/2006/relationships/tableStyles" Target="/ppt/tableStyles.xml" Id="Ref94059f87c242f7" /><Relationship Type="http://schemas.openxmlformats.org/officeDocument/2006/relationships/slide" Target="/ppt/slides/slide1.xml" Id="Rb229997265d246a0" /><Relationship Type="http://schemas.openxmlformats.org/officeDocument/2006/relationships/slide" Target="/ppt/slides/slide2.xml" Id="Rf03b8de3a5514ba9" /><Relationship Type="http://schemas.openxmlformats.org/officeDocument/2006/relationships/slide" Target="/ppt/slides/slide3.xml" Id="Rd6bd4ce5121c4501" /><Relationship Type="http://schemas.openxmlformats.org/officeDocument/2006/relationships/slide" Target="/ppt/slides/slide4.xml" Id="Rd302dd5ea2124fd6" /><Relationship Type="http://schemas.openxmlformats.org/officeDocument/2006/relationships/slide" Target="/ppt/slides/slide5.xml" Id="Rf65163152b5b4ac2" /><Relationship Type="http://schemas.openxmlformats.org/officeDocument/2006/relationships/slide" Target="/ppt/slides/slide6.xml" Id="Rbef0c36faba84086" /><Relationship Type="http://schemas.openxmlformats.org/officeDocument/2006/relationships/slide" Target="/ppt/slides/slide7.xml" Id="Re88d79fc48a94dff" /><Relationship Type="http://schemas.openxmlformats.org/officeDocument/2006/relationships/slide" Target="/ppt/slides/slide8.xml" Id="R46e788f9230d4e2f" /><Relationship Type="http://schemas.openxmlformats.org/officeDocument/2006/relationships/slide" Target="/ppt/slides/slide9.xml" Id="R1da4f2258a324f60" /><Relationship Type="http://schemas.openxmlformats.org/officeDocument/2006/relationships/slide" Target="/ppt/slides/slide10.xml" Id="Rf5dcbd978658451c" /><Relationship Type="http://schemas.openxmlformats.org/officeDocument/2006/relationships/slide" Target="/ppt/slides/slide11.xml" Id="Rf712f9c2d795414b" /><Relationship Type="http://schemas.openxmlformats.org/officeDocument/2006/relationships/slide" Target="/ppt/slides/slide12.xml" Id="Rf1f8e5a601bf4f3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019a3df9f7d4ee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6d92e55ee8f48b0" /><Relationship Type="http://schemas.openxmlformats.org/officeDocument/2006/relationships/notesMaster" Target="/ppt/notesMasters/notesMaster1.xml" Id="R36e5294bc39e45e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c0a363088044019" /><Relationship Type="http://schemas.openxmlformats.org/officeDocument/2006/relationships/notesMaster" Target="/ppt/notesMasters/notesMaster1.xml" Id="R4e62356b7d4b4e0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960fede05564836" /><Relationship Type="http://schemas.openxmlformats.org/officeDocument/2006/relationships/notesMaster" Target="/ppt/notesMasters/notesMaster1.xml" Id="R02383c18434048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1d99aec6600472b" /><Relationship Type="http://schemas.openxmlformats.org/officeDocument/2006/relationships/notesMaster" Target="/ppt/notesMasters/notesMaster1.xml" Id="Rddee000f594f434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5d911d9aa8642d9" /><Relationship Type="http://schemas.openxmlformats.org/officeDocument/2006/relationships/notesMaster" Target="/ppt/notesMasters/notesMaster1.xml" Id="R52a54f50c4624ca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b55f5c90de348bc" /><Relationship Type="http://schemas.openxmlformats.org/officeDocument/2006/relationships/notesMaster" Target="/ppt/notesMasters/notesMaster1.xml" Id="Rf2347af6960d49f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ed932b472f84081" /><Relationship Type="http://schemas.openxmlformats.org/officeDocument/2006/relationships/notesMaster" Target="/ppt/notesMasters/notesMaster1.xml" Id="R8c1f52a77a094f0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899042866c348eb" /><Relationship Type="http://schemas.openxmlformats.org/officeDocument/2006/relationships/notesMaster" Target="/ppt/notesMasters/notesMaster1.xml" Id="R2bdf5e0702ee4ce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ca5f3f15b8d4af6" /><Relationship Type="http://schemas.openxmlformats.org/officeDocument/2006/relationships/notesMaster" Target="/ppt/notesMasters/notesMaster1.xml" Id="R05220ef03c8048e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89f13d46a4d4293" /><Relationship Type="http://schemas.openxmlformats.org/officeDocument/2006/relationships/notesMaster" Target="/ppt/notesMasters/notesMaster1.xml" Id="Rdc91524f8a114c4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dbd5542d7c24c56" /><Relationship Type="http://schemas.openxmlformats.org/officeDocument/2006/relationships/notesMaster" Target="/ppt/notesMasters/notesMaster1.xml" Id="R20a8e9f568ce46c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c3fbd728b1d44e7" /><Relationship Type="http://schemas.openxmlformats.org/officeDocument/2006/relationships/notesMaster" Target="/ppt/notesMasters/notesMaster1.xml" Id="R729582196eb84fc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00:00–00:10 (10초)</a:t>
            </a:r>
          </a:p>
          <a:p xmlns:a="http://schemas.openxmlformats.org/drawingml/2006/main">
            <a:r>
              <a:t>한 문장: 글로벌 라이브 당첨을 국가별 SodaGift 수령까지 연결한 StreamDrop입니다.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https://github.com/Changjae-LE/socal-k-group-hackathon/tree/feature/TEAM5-sodagift-LINK-test</a:t>
            </a:r>
          </a:p>
          <a:p xmlns:a="http://schemas.openxmlformats.org/drawingml/2006/main">
            <a:r>
              <a:t>- SodaGift overview: https://sodagift.com/ko/about-us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00:10–00:25 (15초)</a:t>
            </a:r>
          </a:p>
          <a:p xmlns:a="http://schemas.openxmlformats.org/drawingml/2006/main">
            <a:r>
              <a:t>네 명의 이름만 빠르게 소개하고 역할 설명은 생략합니다.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Team member names supplied by Team 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00:25–01:10 (45초)</a:t>
            </a:r>
          </a:p>
          <a:p xmlns:a="http://schemas.openxmlformats.org/drawingml/2006/main">
            <a:r>
              <a:t>팀 논의에서 확인한 채택 이유는 국가 장벽, 라이브 즉시성, SodaGift LINK 적합성입니다.</a:t>
            </a:r>
          </a:p>
          <a:p xmlns:a="http://schemas.openxmlformats.org/drawingml/2006/main">
            <a:r>
              <a:t>세 가지를 동시에 보여주면서 하루 안에 시연할 수 있는 StreamDrop을 선택했습니다.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Idea adoption rationale based on Team 5 product discussion.</a:t>
            </a:r>
          </a:p>
          <a:p xmlns:a="http://schemas.openxmlformats.org/drawingml/2006/main">
            <a:r>
              <a:t>- SodaGift API introduction: https://kr-bizsodagift-docs.readme.io/docs/introduction</a:t>
            </a:r>
          </a:p>
          <a:p xmlns:a="http://schemas.openxmlformats.org/drawingml/2006/main">
            <a:r>
              <a:t>- SodaGift company overview: https://sodagift.com/ko/about-us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01:10–02:20 (70초)</a:t>
            </a:r>
          </a:p>
          <a:p xmlns:a="http://schemas.openxmlformats.org/drawingml/2006/main">
            <a:r>
              <a:t>Streaming은 Twitch OAuth와 OBS Browser Source, StreamDrop은 운영·참여·추첨 흐름을 담당합니다.</a:t>
            </a:r>
          </a:p>
          <a:p xmlns:a="http://schemas.openxmlformats.org/drawingml/2006/main">
            <a:r>
              <a:t>Firebase는 실시간 상태를 동기화하고 SodaGift는 당첨자 요청 뒤 LINK URL을 반환하며, API 키는 서버 측 경계에만 둡니다.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implementation: https://github.com/Changjae-LE/socal-k-group-hackathon/tree/feature/TEAM5-sodagift-LINK-test</a:t>
            </a:r>
          </a:p>
          <a:p xmlns:a="http://schemas.openxmlformats.org/drawingml/2006/main">
            <a:r>
              <a:t>- SodaGift order lifecycle: https://kr-bizsodagift-docs.readme.io/docs/order-lifecycle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02:20–02:25 (5초)</a:t>
            </a:r>
          </a:p>
          <a:p xmlns:a="http://schemas.openxmlformats.org/drawingml/2006/main">
            <a:r>
              <a:t>운영자가 이벤트를 시작하면 OBS 오버레이의 QR이 활성화됩니다.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Screenshot: /Users/dexter.kim/Library/CloudStorage/OneDrive-ResMedCorp/Documents/Screenshot 2026-08-30 at 9.54.15 AM.png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02:25–02:30 (5초)</a:t>
            </a:r>
          </a:p>
          <a:p xmlns:a="http://schemas.openxmlformats.org/drawingml/2006/main">
            <a:r>
              <a:t>참가자는 QR을 스캔하고 Twitch 로그인과 국가 선택으로 참여를 등록합니다.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Screenshot: /Users/dexter.kim/Library/CloudStorage/OneDrive-ResMedCorp/Documents/Screenshot 2026-08-30 at 12.49.17 AM.png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02:30–02:35 (5초)</a:t>
            </a:r>
          </a:p>
          <a:p xmlns:a="http://schemas.openxmlformats.org/drawingml/2006/main">
            <a:r>
              <a:t>참여 완료 정보가 Firestore를 통해 운영자 콘솔에 실시간 반영됩니다.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Screenshots: /Users/dexter.kim/Library/CloudStorage/OneDrive-ResMedCorp/Documents/Screenshot 2026-08-30 at 9.57.50 AM.png; /Users/dexter.kim/Library/CloudStorage/OneDrive-ResMedCorp/Documents/Screenshot 2026-08-30 at 12.49.54 AM.png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02:35–02:40 (5초)</a:t>
            </a:r>
          </a:p>
          <a:p xmlns:a="http://schemas.openxmlformats.org/drawingml/2006/main">
            <a:r>
              <a:t>운영자가 추첨하면 OBS와 참가자 휴대폰에 당첨 결과가 동시에 표시됩니다.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Screenshots: /Users/dexter.kim/Library/CloudStorage/OneDrive-ResMedCorp/Documents/Screenshot 2026-08-30 at 9.59.05 AM.png; /Users/dexter.kim/Library/CloudStorage/OneDrive-ResMedCorp/Documents/Screenshot 2026-08-29 at 11.43.50 PM.png; /Users/dexter.kim/Library/CloudStorage/OneDrive-ResMedCorp/Documents/Screenshot 2026-08-30 at 12.52.09 AM.png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02:40–02:45 (5초) 이후 02:45–08:45 라이브 데모 (6분)</a:t>
            </a:r>
          </a:p>
          <a:p xmlns:a="http://schemas.openxmlformats.org/drawingml/2006/main">
            <a:r>
              <a:t>이제 설명을 멈추고 실제 Twitch 연동 흐름을 시연합니다.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demo sequence based on Team 5's implemented StreamDrop flow.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08:45–09:15 (30초)</a:t>
            </a:r>
          </a:p>
          <a:p xmlns:a="http://schemas.openxmlformats.org/drawingml/2006/main">
            <a:r>
              <a:t>귓속말의 silent drop은 직접 수령 화면으로 우회했습니다.</a:t>
            </a:r>
          </a:p>
          <a:p xmlns:a="http://schemas.openxmlformats.org/drawingml/2006/main">
            <a:r>
              <a:t>feat/ai-gift-recommendation은 낙첨자에게 국가와 Twitch 관심사 기반 Top 3를 추천합니다.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Twitch Whisper API silent-drop behavior: https://dev.twitch.tv/docs/chat/whispers/</a:t>
            </a:r>
          </a:p>
          <a:p xmlns:a="http://schemas.openxmlformats.org/drawingml/2006/main">
            <a:r>
              <a:t>- Twitch Whisper privacy settings: https://help.twitch.tv/s/article/how-to-use-whispers</a:t>
            </a:r>
          </a:p>
          <a:p xmlns:a="http://schemas.openxmlformats.org/drawingml/2006/main">
            <a:r>
              <a:t>- AI gift recommendation branch: https://github.com/Changjae-LE/socal-k-group-hackathon/tree/feat/ai-gift-recommendation</a:t>
            </a:r>
          </a:p>
          <a:p xmlns:a="http://schemas.openxmlformats.org/drawingml/2006/main">
            <a:r>
              <a:t>- Product AI implementation: raffle-app/app/services/recommend.py at commit e040c6a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09:15–10:00 (45초)</a:t>
            </a:r>
          </a:p>
          <a:p xmlns:a="http://schemas.openxmlformats.org/drawingml/2006/main">
            <a:r>
              <a:t>주최자 캠페인 이용료와 경품·후속 주문 수수료가 수익원입니다.</a:t>
            </a:r>
          </a:p>
          <a:p xmlns:a="http://schemas.openxmlformats.org/drawingml/2006/main">
            <a:r>
              <a:t>팔로우 채널·참가 국가·선택 상품을 AI가 분석해 Top 3를 추천하고, 다음 이벤트와 계속 구매를 유도합니다.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SodaGift company overview: https://sodagift.com/ko/about-us</a:t>
            </a:r>
          </a:p>
          <a:p xmlns:a="http://schemas.openxmlformats.org/drawingml/2006/main">
            <a:r>
              <a:t>- AI gift recommendation branch: https://github.com/Changjae-LE/socal-k-group-hackathon/tree/feat/ai-gift-recommendation</a:t>
            </a:r>
          </a:p>
          <a:p xmlns:a="http://schemas.openxmlformats.org/drawingml/2006/main">
            <a:r>
              <a:t>- Use cases and revenue model are Team 5 product hypotheses for the hackathon.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Guide]</a:t>
            </a:r>
          </a:p>
          <a:p xmlns:a="http://schemas.openxmlformats.org/drawingml/2006/main">
            <a:r>
              <a:t>10:00–15:00 Q&amp;A (5분)</a:t>
            </a:r>
          </a:p>
          <a:p xmlns:a="http://schemas.openxmlformats.org/drawingml/2006/main">
            <a:r>
              <a:t>질문이 없으면 네 가지 핵심 가치 중 하나를 짚어 실제 데모와 연결합니다.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Closing summary based on Team 5 product concept and implemented demo.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724f47bdbc404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02fc259001844a6" /><Relationship Type="http://schemas.openxmlformats.org/officeDocument/2006/relationships/slideLayout" Target="/ppt/slideLayouts/slideLayout1.xml" Id="Rabb8e09f670c4a5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bb8e09f670c4a5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0cc391810945f7" /><Relationship Type="http://schemas.openxmlformats.org/officeDocument/2006/relationships/notesSlide" Target="/ppt/notesSlides/notesSlide1.xml" Id="R1f97b571cb95444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4eab50b26f4817" /><Relationship Type="http://schemas.openxmlformats.org/officeDocument/2006/relationships/notesSlide" Target="/ppt/notesSlides/notesSlide2.xml" Id="R35aad24a87dd4a3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c18fb5c8ea470a" /><Relationship Type="http://schemas.openxmlformats.org/officeDocument/2006/relationships/notesSlide" Target="/ppt/notesSlides/notesSlide3.xml" Id="Re837ed18da9a418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b924ef30f74439" /><Relationship Type="http://schemas.openxmlformats.org/officeDocument/2006/relationships/notesSlide" Target="/ppt/notesSlides/notesSlide4.xml" Id="Rb95afdc1ca604d6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6c1a01e435440a" /><Relationship Type="http://schemas.openxmlformats.org/officeDocument/2006/relationships/image" Target="/ppt/media/image.png" Id="R5ffab65802714655" /><Relationship Type="http://schemas.openxmlformats.org/officeDocument/2006/relationships/notesSlide" Target="/ppt/notesSlides/notesSlide5.xml" Id="R1526739d1920493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8f1720e40841b1" /><Relationship Type="http://schemas.openxmlformats.org/officeDocument/2006/relationships/image" Target="/ppt/media/image2.png" Id="Rd4b174e69cdb4bba" /><Relationship Type="http://schemas.openxmlformats.org/officeDocument/2006/relationships/notesSlide" Target="/ppt/notesSlides/notesSlide6.xml" Id="Rb9427917f108473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fb44bd0e8a44a8" /><Relationship Type="http://schemas.openxmlformats.org/officeDocument/2006/relationships/image" Target="/ppt/media/image3.png" Id="Rfdc7350f4b1a459e" /><Relationship Type="http://schemas.openxmlformats.org/officeDocument/2006/relationships/image" Target="/ppt/media/image4.png" Id="R7fe1e58942194d7f" /><Relationship Type="http://schemas.openxmlformats.org/officeDocument/2006/relationships/notesSlide" Target="/ppt/notesSlides/notesSlide7.xml" Id="Rf5c2ff94dde44ec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b13724a7d3454b" /><Relationship Type="http://schemas.openxmlformats.org/officeDocument/2006/relationships/image" Target="/ppt/media/image5.png" Id="R5aa35737b7de45f7" /><Relationship Type="http://schemas.openxmlformats.org/officeDocument/2006/relationships/image" Target="/ppt/media/image6.png" Id="Rd2dbe0be25c6418d" /><Relationship Type="http://schemas.openxmlformats.org/officeDocument/2006/relationships/image" Target="/ppt/media/image7.png" Id="R090abc3f4c32401c" /><Relationship Type="http://schemas.openxmlformats.org/officeDocument/2006/relationships/notesSlide" Target="/ppt/notesSlides/notesSlide8.xml" Id="R261812bc23cc49a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a0cd914a004682" /><Relationship Type="http://schemas.openxmlformats.org/officeDocument/2006/relationships/notesSlide" Target="/ppt/notesSlides/notesSlide9.xml" Id="R54466d3f9e314be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87c9e8c08e4a63" /><Relationship Type="http://schemas.openxmlformats.org/officeDocument/2006/relationships/notesSlide" Target="/ppt/notesSlides/notesSlide10.xml" Id="R1ba28920dd62408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04c75500a24dee" /><Relationship Type="http://schemas.openxmlformats.org/officeDocument/2006/relationships/notesSlide" Target="/ppt/notesSlides/notesSlide11.xml" Id="Rf3286cb291e6489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4ba523421841b2" /><Relationship Type="http://schemas.openxmlformats.org/officeDocument/2006/relationships/notesSlide" Target="/ppt/notesSlides/notesSlide12.xml" Id="R55ecaea9a4ec45d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37B61B-AEF3-4E37-A16A-01CF1D86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0"/>
            <a:ext cx="4857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E31F40-28CD-48B6-8873-1062E8BD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695450"/>
            <a:ext cx="2038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6DCBF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6FF9AD-541D-4272-8EE5-176504A4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3143250" cy="3143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50BBAF-E0DD-4721-9C61-0378F8AE5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724150"/>
            <a:ext cx="2000250" cy="2000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DCBF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3AE30F-34ED-45BD-90C5-3ED79D2C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4480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00BDA7-EF12-4E84-9735-D5BCA15A8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1049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LIVE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CFBE6D-B798-4E35-9D55-406C129B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0292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DROP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54D87F-492E-4C72-BDAE-1A44A91A4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95400"/>
            <a:ext cx="619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5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54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4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3E321B-325A-4818-B672-40B28DA06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00300"/>
            <a:ext cx="60007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당첨의 순간을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전 세계 팬의 선물로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B8C542-D17F-448B-B0E4-8FD8D08AC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71950"/>
            <a:ext cx="581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Twitch × OBS × Firebase × FastAPI × SodaGift LINK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617FBD-B1D3-4F1B-917A-03827577F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579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Global Live Reward · Team 5</a:t>
            </a:r>
          </a:p>
        </p:txBody>
      </p:sp>
    </p:spTree>
    <p:extLst>
      <p:ext uri="{BB962C8B-B14F-4D97-AF65-F5344CB8AC3E}">
        <p14:creationId xmlns:p14="http://schemas.microsoft.com/office/powerpoint/2010/main" val="13776194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ECC859-C8F4-4B31-86C9-1A75F486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1965594B-6A83-4B5C-8520-46B4A766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TEAM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5040D8-B864-4490-91CF-44D5C9466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824068-9352-43E4-A519-26E068D6F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A4A12F-998F-4527-95CF-4FA3CA9C1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809750"/>
            <a:ext cx="647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Dexter Kim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1E6981-B336-4512-AA5D-AB83B966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289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59A6BD-EDE6-47CA-BEC5-A70A22099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24300"/>
            <a:ext cx="4953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573F20-D745-4783-8DD6-66F5C42A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52600"/>
            <a:ext cx="0" cy="3619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10B238-8974-4683-9984-7C0B377F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9070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62182D-B5E5-4483-B27E-06E9A3D1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43200"/>
            <a:ext cx="647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Christian Lee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98A3CC-32F7-4F0D-9EBB-A73A22055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1717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611603-D4A8-4394-A3A9-C5956165C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2895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56D1EC-8048-4FEA-82F6-46017614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76650"/>
            <a:ext cx="647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이창재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CC4C07-0CB4-4D3C-8956-23139D75F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40995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66A498-DDDE-4B20-81EC-28784CD66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6720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27DB6D-AFC9-46F7-BD51-212574A3B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10100"/>
            <a:ext cx="647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최재원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952A9E-817D-412B-B6E5-FC8589E5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6482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300759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0AD1BC-0FC0-41FA-B1CF-783C905AF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D66279F6-5071-4199-9354-57DECE1B8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선택한 이유는 글로벌·실시간·SodaGift였다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5704AD-AAC0-4D74-980D-ECFFC3C2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E563FC-2211-4011-BCFC-86593BD53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1733550"/>
            <a:ext cx="3352800" cy="36957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0">
            <a:solidFill>
              <a:srgbClr val="F5F7F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D37F45-6564-4367-B20C-373D6048D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812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GLOBAL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C5F05A-0DE3-4490-8C37-8746E6A7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030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국가 장벽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17DC22-1B2D-4525-A477-2B69BEA50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24200"/>
            <a:ext cx="28194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전 세계 팬은 한 방송에 모이지만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상품·통화·사용 조건은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국가마다 다르다.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91EE74-E40E-4BE0-A29C-DDFCB2FE3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67200" y="1733550"/>
            <a:ext cx="3352800" cy="36957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C3C1C5-F1FB-4EA6-88AD-F37B3C860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9812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6DCBF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6DCBF4"/>
                </a:solidFill>
                <a:latin typeface="Apple SD Gothic Neo"/>
                <a:ea typeface="Apple SD Gothic Neo"/>
                <a:cs typeface="Apple SD Gothic Neo"/>
              </a:rPr>
              <a:t>LIVE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A41CB1-549B-4EBA-AA63-A58CD02CB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0030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당첨 즉시성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8AC72D-569A-4CC0-BBDB-1DA04681E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124200"/>
            <a:ext cx="28194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라이브의 흥분이 식기 전에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당첨자가 바로 선물을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확인해야 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66B77D-3080-4243-9C05-26C60B668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77200" y="1733550"/>
            <a:ext cx="3352800" cy="36957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0">
            <a:solidFill>
              <a:srgbClr val="F5F7F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00661A-6BA1-41E6-8A0B-F9BA654B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9812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SODAGIFT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52B1FB-1B7A-4F47-8841-045A1592B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00300"/>
            <a:ext cx="281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LINK 전달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049095-8002-4B32-99D6-EE38EEB9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24200"/>
            <a:ext cx="28194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배송·주소 수집 없이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국가에 맞는 SodaGift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수령 경험으로 연결한다.</a:t>
            </a:r>
          </a:p>
        </p:txBody>
      </p:sp>
    </p:spTree>
    <p:extLst>
      <p:ext uri="{BB962C8B-B14F-4D97-AF65-F5344CB8AC3E}">
        <p14:creationId xmlns:p14="http://schemas.microsoft.com/office/powerpoint/2010/main" val="6534836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F12E4B-B87B-4423-8D70-6434C1C6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FC4E55D1-3D1D-4650-B719-114E32DE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시스템 구성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2E406C-2E8C-47A6-98DD-E1AD575C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A84CCC-6B5C-410D-B007-F5C987C21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67050"/>
            <a:ext cx="68580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EE394E-B93B-4455-AA15-C9A0CF600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305050"/>
            <a:ext cx="45720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CBB36C-70E5-4107-B62D-7D5E29D17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67050"/>
            <a:ext cx="49530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73BBAC-DB98-4F52-A074-4C555E16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305050"/>
            <a:ext cx="45720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749D53-5645-49F7-85B5-67B697163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0BD136-11AB-4044-A5FD-3EE3DF3B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2647950"/>
            <a:ext cx="24765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E4E8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1E50B2-D3E8-4808-A7F8-62C35420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194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Streaming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18F2A8-B21B-41DB-95D3-9E470105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194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Twitch OAuth 2.0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OBS Browser Source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0BFEAE-ED03-4DEE-8F4F-D44F99884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7250" y="2647950"/>
            <a:ext cx="28575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A0A0A"/>
          </a:solidFill>
          <a:ln xmlns:a="http://schemas.openxmlformats.org/drawingml/2006/main" w="9525">
            <a:solidFill>
              <a:srgbClr val="0A0A0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059306-51FD-4750-BE10-88E493AC6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8194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E4219C-EE9E-45DC-B918-6882378E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21945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66D9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6D9FF"/>
                </a:solidFill>
                <a:latin typeface="Apple SD Gothic Neo"/>
                <a:ea typeface="Apple SD Gothic Neo"/>
                <a:cs typeface="Apple SD Gothic Neo"/>
              </a:rPr>
              <a:t>Admin · Join · Result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66D9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6D9FF"/>
                </a:solidFill>
                <a:latin typeface="Apple SD Gothic Neo"/>
                <a:ea typeface="Apple SD Gothic Neo"/>
                <a:cs typeface="Apple SD Gothic Neo"/>
              </a:rPr>
              <a:t>Raffle + LINK orchestration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B42014-3637-42FB-BBB2-87765375E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7250" y="1352550"/>
            <a:ext cx="28575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AE558D-0544-4093-8ED4-127A965F5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5240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Firebase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0C57C8-F76C-483E-B38F-7DF1CC42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9240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E7F0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E7F0FF"/>
                </a:solidFill>
                <a:latin typeface="Apple SD Gothic Neo"/>
                <a:ea typeface="Apple SD Gothic Neo"/>
                <a:cs typeface="Apple SD Gothic Neo"/>
              </a:rPr>
              <a:t>Hosting · Firestore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E7F0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E7F0FF"/>
                </a:solidFill>
                <a:latin typeface="Apple SD Gothic Neo"/>
                <a:ea typeface="Apple SD Gothic Neo"/>
                <a:cs typeface="Apple SD Gothic Neo"/>
              </a:rPr>
              <a:t>Realtime state store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F55440-29E0-496C-8784-50D4F7DF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82050" y="2647950"/>
            <a:ext cx="24765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C5D86"/>
          </a:solidFill>
          <a:ln xmlns:a="http://schemas.openxmlformats.org/drawingml/2006/main" w="9525">
            <a:solidFill>
              <a:srgbClr val="EC5D8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7D9DAD-BFB1-4E8B-8CC9-FB6AF661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8194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SodaGift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ABBAF9-8E48-4F18-8874-20870125A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2194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D7E8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D7E8FF"/>
                </a:solidFill>
                <a:latin typeface="Apple SD Gothic Neo"/>
                <a:ea typeface="Apple SD Gothic Neo"/>
                <a:cs typeface="Apple SD Gothic Neo"/>
              </a:rPr>
              <a:t>LINK Order API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D7E8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D7E8FF"/>
                </a:solidFill>
                <a:latin typeface="Apple SD Gothic Neo"/>
                <a:ea typeface="Apple SD Gothic Neo"/>
                <a:cs typeface="Apple SD Gothic Neo"/>
              </a:rPr>
              <a:t>상품 선택 · 주문 완료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A32067-C855-43B3-9B45-4AAC59A8E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324350"/>
            <a:ext cx="5238750" cy="8382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CFE0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D5AD21-8203-4BAE-9F63-81D73F81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57700"/>
            <a:ext cx="4743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2D79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2D79E6"/>
                </a:solidFill>
                <a:latin typeface="Apple SD Gothic Neo"/>
                <a:ea typeface="Apple SD Gothic Neo"/>
                <a:cs typeface="Apple SD Gothic Neo"/>
              </a:rPr>
              <a:t>FIREBASE STATE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4A85EE-5FAC-405D-A038-9F3B47D66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474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405A7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405A78"/>
                </a:solidFill>
                <a:latin typeface="Apple SD Gothic Neo"/>
                <a:ea typeface="Apple SD Gothic Neo"/>
                <a:cs typeface="Apple SD Gothic Neo"/>
              </a:rPr>
              <a:t>participant · country · winner · result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BE5EF6-0F25-4C9C-A72F-EB85DDC01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0" y="4324350"/>
            <a:ext cx="5257800" cy="8382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9C20F0-B637-44A0-B7F3-29532C9C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457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STREAMDROP GIFT FLOW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4DFA4C-19BE-4FBE-AC78-8C568F5E7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62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A9D6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A9D6FF"/>
                </a:solidFill>
                <a:latin typeface="Apple SD Gothic Neo"/>
                <a:ea typeface="Apple SD Gothic Neo"/>
                <a:cs typeface="Apple SD Gothic Neo"/>
              </a:rPr>
              <a:t>POST /orders (LINK) → recipientUrl → Twitch whisper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94D074-798A-4EA2-BAC3-CB695FB7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14950"/>
            <a:ext cx="1049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FLOW  ① Start  →  ② QR  →  ③ Join  →  ④ Raffle  →  ⑤ Winner  →  ⑥ SodaGift LINK</a:t>
            </a:r>
          </a:p>
        </p:txBody>
      </p:sp>
    </p:spTree>
    <p:extLst>
      <p:ext uri="{BB962C8B-B14F-4D97-AF65-F5344CB8AC3E}">
        <p14:creationId xmlns:p14="http://schemas.microsoft.com/office/powerpoint/2010/main" val="907972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4E308F-A22D-4CA9-909C-261A29C7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0FC443DD-B338-4BBE-8625-36E3C663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99583-F8C3-4EBE-A453-C1239172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6F146D-A533-4ABF-A9A3-9EAC9649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1695450"/>
            <a:ext cx="1127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BAF41-6747-4E56-884F-78A62D69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E4B587-B0E7-4563-8A88-3E711678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47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92A7F-7F7D-48BC-9BD3-247D219D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47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4E8AD8-B747-4664-9D31-8DDCAAD8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209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55C57-85D5-43F7-B551-4D7D66E8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B0264D-DED6-4E51-9484-B702AF24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003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245E9E-709E-40F4-88E7-3CEF0DEF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003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9D0E91-DCEC-4FF6-BE2F-13925C6B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8956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CA56A5-86BD-422D-9CDA-35765C50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6B064-251E-40A4-A5B7-BC83788A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861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67538B-0566-4A4D-9226-1A5DF3C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861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3CD8F0-A03F-44A0-BCE5-2C5BB5F0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35814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8A0390-B461-4C07-A32D-0135F88B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67F589-BB39-45D4-A625-F82F6031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719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EF65F9-02F5-4EA2-971A-0B1E57C6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71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67A7EB-ABCA-4A21-BE47-B18804F8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2672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BCA309-BB4C-4C8F-B2D6-7A543C6D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61023A-D2D4-4504-BA15-B721A638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577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17DC27-C128-4D0B-A07A-7C46F14A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57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F70AB5-9B50-4FE4-A1C8-66B37E3C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9530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F98DF4-0127-4399-8211-DAA4A9F6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F5604F-3F81-409C-A638-BE831D4B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1435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542922-440C-4440-B4BB-74FE15FC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1435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9" name="stage-5-title">
            <a:extLst xmlns:a="http://schemas.openxmlformats.org/drawingml/2006/main">
              <a:ext uri="{FF2B5EF4-FFF2-40B4-BE49-F238E27FC236}">
                <a16:creationId xmlns:a16="http://schemas.microsoft.com/office/drawing/2014/main" id="{82684D35-2BB7-4C25-8E62-89E883F79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01 · 이벤트 시작</a:t>
            </a:r>
          </a:p>
        </p:txBody>
      </p:sp>
      <p:sp>
        <p:nvSpPr>
          <p:cNvPr id="30" name="stage-5-subtitle">
            <a:extLst xmlns:a="http://schemas.openxmlformats.org/drawingml/2006/main">
              <a:ext uri="{FF2B5EF4-FFF2-40B4-BE49-F238E27FC236}">
                <a16:creationId xmlns:a16="http://schemas.microsoft.com/office/drawing/2014/main" id="{FE57DFBD-0D7E-47E3-BC25-4B4BAA1D5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진행 주체  운영자  ·  Admin에서 이벤트를 시작하고 OBS에 QR을 노출</a:t>
            </a:r>
          </a:p>
        </p:txBody>
      </p:sp>
      <p:sp>
        <p:nvSpPr>
          <p:cNvPr id="31" name="stage-5-page">
            <a:extLst xmlns:a="http://schemas.openxmlformats.org/drawingml/2006/main">
              <a:ext uri="{FF2B5EF4-FFF2-40B4-BE49-F238E27FC236}">
                <a16:creationId xmlns:a16="http://schemas.microsoft.com/office/drawing/2014/main" id="{601AFE7F-1792-4319-B818-883EF4C7C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32" name="event-start-admin-frame">
            <a:extLst xmlns:a="http://schemas.openxmlformats.org/drawingml/2006/main">
              <a:ext uri="{FF2B5EF4-FFF2-40B4-BE49-F238E27FC236}">
                <a16:creationId xmlns:a16="http://schemas.microsoft.com/office/drawing/2014/main" id="{4EE0D38D-2806-4E0A-A403-93CBADE45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52600"/>
            <a:ext cx="112776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fab65802714655"/>
          <a:stretch xmlns:a="http://schemas.openxmlformats.org/drawingml/2006/main"/>
        </p:blipFill>
        <p:spPr>
          <a:xfrm xmlns:a="http://schemas.openxmlformats.org/drawingml/2006/main">
            <a:off x="1506881" y="1828800"/>
            <a:ext cx="9178239" cy="3848100"/>
          </a:xfrm>
          <a:prstGeom xmlns:a="http://schemas.openxmlformats.org/drawingml/2006/main" prst="rect">
            <a:avLst/>
          </a:prstGeom>
        </p:spPr>
      </p:pic>
      <p:sp>
        <p:nvSpPr>
          <p:cNvPr id="34" name="event-start-caption">
            <a:extLst xmlns:a="http://schemas.openxmlformats.org/drawingml/2006/main">
              <a:ext uri="{FF2B5EF4-FFF2-40B4-BE49-F238E27FC236}">
                <a16:creationId xmlns:a16="http://schemas.microsoft.com/office/drawing/2014/main" id="{6A01979B-A33F-4A8B-B364-EE66F6B8D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0"/>
            <a:ext cx="1127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운영자 콘솔에서 이벤트를 시작하면 OBS 오버레이의 QR이 활성화됩니다.</a:t>
            </a:r>
          </a:p>
        </p:txBody>
      </p:sp>
    </p:spTree>
    <p:extLst>
      <p:ext uri="{BB962C8B-B14F-4D97-AF65-F5344CB8AC3E}">
        <p14:creationId xmlns:p14="http://schemas.microsoft.com/office/powerpoint/2010/main" val="18948148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4E308F-A22D-4CA9-909C-261A29C7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0FC443DD-B338-4BBE-8625-36E3C663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99583-F8C3-4EBE-A453-C1239172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6F146D-A533-4ABF-A9A3-9EAC9649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1695450"/>
            <a:ext cx="1127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BAF41-6747-4E56-884F-78A62D69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E4B587-B0E7-4563-8A88-3E711678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47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92A7F-7F7D-48BC-9BD3-247D219D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47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4E8AD8-B747-4664-9D31-8DDCAAD8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209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55C57-85D5-43F7-B551-4D7D66E8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B0264D-DED6-4E51-9484-B702AF24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003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245E9E-709E-40F4-88E7-3CEF0DEF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003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9D0E91-DCEC-4FF6-BE2F-13925C6B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8956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CA56A5-86BD-422D-9CDA-35765C50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6B064-251E-40A4-A5B7-BC83788A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861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67538B-0566-4A4D-9226-1A5DF3C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861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3CD8F0-A03F-44A0-BCE5-2C5BB5F0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35814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8A0390-B461-4C07-A32D-0135F88B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67F589-BB39-45D4-A625-F82F6031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719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EF65F9-02F5-4EA2-971A-0B1E57C6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71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67A7EB-ABCA-4A21-BE47-B18804F8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2672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BCA309-BB4C-4C8F-B2D6-7A543C6D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61023A-D2D4-4504-BA15-B721A638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577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17DC27-C128-4D0B-A07A-7C46F14A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57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F70AB5-9B50-4FE4-A1C8-66B37E3C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9530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F98DF4-0127-4399-8211-DAA4A9F6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F5604F-3F81-409C-A638-BE831D4B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1435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542922-440C-4440-B4BB-74FE15FC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1435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9" name="stage-6-title">
            <a:extLst xmlns:a="http://schemas.openxmlformats.org/drawingml/2006/main">
              <a:ext uri="{FF2B5EF4-FFF2-40B4-BE49-F238E27FC236}">
                <a16:creationId xmlns:a16="http://schemas.microsoft.com/office/drawing/2014/main" id="{E61AC460-3B56-407F-AE8B-9EF47847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02 · 참여 등록</a:t>
            </a:r>
          </a:p>
        </p:txBody>
      </p:sp>
      <p:sp>
        <p:nvSpPr>
          <p:cNvPr id="30" name="stage-6-subtitle">
            <a:extLst xmlns:a="http://schemas.openxmlformats.org/drawingml/2006/main">
              <a:ext uri="{FF2B5EF4-FFF2-40B4-BE49-F238E27FC236}">
                <a16:creationId xmlns:a16="http://schemas.microsoft.com/office/drawing/2014/main" id="{60AD1243-28F5-4706-85E4-161FFBADF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진행 주체  참가자  ·  QR 스캔 후 Twitch 로그인과 국가 선택</a:t>
            </a:r>
          </a:p>
        </p:txBody>
      </p:sp>
      <p:sp>
        <p:nvSpPr>
          <p:cNvPr id="31" name="stage-6-page">
            <a:extLst xmlns:a="http://schemas.openxmlformats.org/drawingml/2006/main">
              <a:ext uri="{FF2B5EF4-FFF2-40B4-BE49-F238E27FC236}">
                <a16:creationId xmlns:a16="http://schemas.microsoft.com/office/drawing/2014/main" id="{E7181417-D497-4430-826B-4CDA2263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32" name="registration-overlay-frame">
            <a:extLst xmlns:a="http://schemas.openxmlformats.org/drawingml/2006/main">
              <a:ext uri="{FF2B5EF4-FFF2-40B4-BE49-F238E27FC236}">
                <a16:creationId xmlns:a16="http://schemas.microsoft.com/office/drawing/2014/main" id="{36E62D79-AEB3-4EDD-A74C-5C79FB408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1695450"/>
            <a:ext cx="8229600" cy="4457700"/>
          </a:xfrm>
          <a:prstGeom xmlns:a="http://schemas.openxmlformats.org/drawingml/2006/main" prst="roundRect">
            <a:avLst>
              <a:gd name="adj" fmla="val 1709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b174e69cdb4bba"/>
          <a:stretch xmlns:a="http://schemas.openxmlformats.org/drawingml/2006/main"/>
        </p:blipFill>
        <p:spPr>
          <a:xfrm xmlns:a="http://schemas.openxmlformats.org/drawingml/2006/main">
            <a:off x="2856903" y="1771650"/>
            <a:ext cx="6478194" cy="43053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8148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4E308F-A22D-4CA9-909C-261A29C7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0FC443DD-B338-4BBE-8625-36E3C663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99583-F8C3-4EBE-A453-C1239172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6F146D-A533-4ABF-A9A3-9EAC9649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1695450"/>
            <a:ext cx="1127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BAF41-6747-4E56-884F-78A62D69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E4B587-B0E7-4563-8A88-3E711678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47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92A7F-7F7D-48BC-9BD3-247D219D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47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4E8AD8-B747-4664-9D31-8DDCAAD8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209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55C57-85D5-43F7-B551-4D7D66E8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B0264D-DED6-4E51-9484-B702AF24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003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245E9E-709E-40F4-88E7-3CEF0DEF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003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9D0E91-DCEC-4FF6-BE2F-13925C6B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8956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CA56A5-86BD-422D-9CDA-35765C50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6B064-251E-40A4-A5B7-BC83788A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861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67538B-0566-4A4D-9226-1A5DF3C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861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3CD8F0-A03F-44A0-BCE5-2C5BB5F0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35814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8A0390-B461-4C07-A32D-0135F88B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67F589-BB39-45D4-A625-F82F6031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719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EF65F9-02F5-4EA2-971A-0B1E57C6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71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67A7EB-ABCA-4A21-BE47-B18804F8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2672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BCA309-BB4C-4C8F-B2D6-7A543C6D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61023A-D2D4-4504-BA15-B721A638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577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17DC27-C128-4D0B-A07A-7C46F14A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57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F70AB5-9B50-4FE4-A1C8-66B37E3C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9530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F98DF4-0127-4399-8211-DAA4A9F6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F5604F-3F81-409C-A638-BE831D4B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1435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542922-440C-4440-B4BB-74FE15FC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1435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9" name="stage-7-title">
            <a:extLst xmlns:a="http://schemas.openxmlformats.org/drawingml/2006/main">
              <a:ext uri="{FF2B5EF4-FFF2-40B4-BE49-F238E27FC236}">
                <a16:creationId xmlns:a16="http://schemas.microsoft.com/office/drawing/2014/main" id="{08657D4D-7B7F-41CD-BB23-51C5CF7E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03 · 참가 확인</a:t>
            </a:r>
          </a:p>
        </p:txBody>
      </p:sp>
      <p:sp>
        <p:nvSpPr>
          <p:cNvPr id="30" name="stage-7-subtitle">
            <a:extLst xmlns:a="http://schemas.openxmlformats.org/drawingml/2006/main">
              <a:ext uri="{FF2B5EF4-FFF2-40B4-BE49-F238E27FC236}">
                <a16:creationId xmlns:a16="http://schemas.microsoft.com/office/drawing/2014/main" id="{1C0AA3BA-1A0C-4B83-A606-AC13290D7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진행 주체  참가자 → 운영자  ·  참여 완료 후 Firestore 반영 상태 확인</a:t>
            </a:r>
          </a:p>
        </p:txBody>
      </p:sp>
      <p:sp>
        <p:nvSpPr>
          <p:cNvPr id="31" name="stage-7-page">
            <a:extLst xmlns:a="http://schemas.openxmlformats.org/drawingml/2006/main">
              <a:ext uri="{FF2B5EF4-FFF2-40B4-BE49-F238E27FC236}">
                <a16:creationId xmlns:a16="http://schemas.microsoft.com/office/drawing/2014/main" id="{D76E85F1-0976-4973-8645-5C22D3D30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  <p:sp>
        <p:nvSpPr>
          <p:cNvPr id="32" name="confirmation-admin-label">
            <a:extLst xmlns:a="http://schemas.openxmlformats.org/drawingml/2006/main">
              <a:ext uri="{FF2B5EF4-FFF2-40B4-BE49-F238E27FC236}">
                <a16:creationId xmlns:a16="http://schemas.microsoft.com/office/drawing/2014/main" id="{42C27D4B-0198-4D73-88E9-AA65AAF2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참여 접수 · 운영자 화면</a:t>
            </a:r>
          </a:p>
        </p:txBody>
      </p:sp>
      <p:sp>
        <p:nvSpPr>
          <p:cNvPr id="33" name="confirmation-mobile-label">
            <a:extLst xmlns:a="http://schemas.openxmlformats.org/drawingml/2006/main">
              <a:ext uri="{FF2B5EF4-FFF2-40B4-BE49-F238E27FC236}">
                <a16:creationId xmlns:a16="http://schemas.microsoft.com/office/drawing/2014/main" id="{F40CE433-5AF1-44A0-981A-F4C78F43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6573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참여 완료 · 참가자 화면</a:t>
            </a:r>
          </a:p>
        </p:txBody>
      </p:sp>
      <p:sp>
        <p:nvSpPr>
          <p:cNvPr id="34" name="confirmation-admin-frame">
            <a:extLst xmlns:a="http://schemas.openxmlformats.org/drawingml/2006/main">
              <a:ext uri="{FF2B5EF4-FFF2-40B4-BE49-F238E27FC236}">
                <a16:creationId xmlns:a16="http://schemas.microsoft.com/office/drawing/2014/main" id="{9511BACD-A151-430F-BDEE-34934CC1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81200"/>
            <a:ext cx="533400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c7350f4b1a459e"/>
          <a:stretch xmlns:a="http://schemas.openxmlformats.org/drawingml/2006/main"/>
        </p:blipFill>
        <p:spPr>
          <a:xfrm xmlns:a="http://schemas.openxmlformats.org/drawingml/2006/main">
            <a:off x="533400" y="2596392"/>
            <a:ext cx="5181600" cy="2331967"/>
          </a:xfrm>
          <a:prstGeom xmlns:a="http://schemas.openxmlformats.org/drawingml/2006/main" prst="rect">
            <a:avLst/>
          </a:prstGeom>
        </p:spPr>
      </p:pic>
      <p:sp>
        <p:nvSpPr>
          <p:cNvPr id="36" name="confirmation-mobile-frame">
            <a:extLst xmlns:a="http://schemas.openxmlformats.org/drawingml/2006/main">
              <a:ext uri="{FF2B5EF4-FFF2-40B4-BE49-F238E27FC236}">
                <a16:creationId xmlns:a16="http://schemas.microsoft.com/office/drawing/2014/main" id="{A7106971-B9FC-4F1D-9791-83E7DE98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81200"/>
            <a:ext cx="5334000" cy="3562350"/>
          </a:xfrm>
          <a:prstGeom xmlns:a="http://schemas.openxmlformats.org/drawingml/2006/main" prst="roundRect">
            <a:avLst>
              <a:gd name="adj" fmla="val 2139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e1e58942194d7f"/>
          <a:stretch xmlns:a="http://schemas.openxmlformats.org/drawingml/2006/main"/>
        </p:blipFill>
        <p:spPr>
          <a:xfrm xmlns:a="http://schemas.openxmlformats.org/drawingml/2006/main">
            <a:off x="6993350" y="2057400"/>
            <a:ext cx="4148901" cy="3409950"/>
          </a:xfrm>
          <a:prstGeom xmlns:a="http://schemas.openxmlformats.org/drawingml/2006/main" prst="rect">
            <a:avLst/>
          </a:prstGeom>
        </p:spPr>
      </p:pic>
      <p:sp>
        <p:nvSpPr>
          <p:cNvPr id="38" name="confirmation-caption">
            <a:extLst xmlns:a="http://schemas.openxmlformats.org/drawingml/2006/main">
              <a:ext uri="{FF2B5EF4-FFF2-40B4-BE49-F238E27FC236}">
                <a16:creationId xmlns:a16="http://schemas.microsoft.com/office/drawing/2014/main" id="{EEA0B281-FCF5-4DE7-83A4-84883FD8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34050"/>
            <a:ext cx="1127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참가자 등록 정보가 Firestore를 통해 운영자 콘솔에 실시간 반영됩니다.</a:t>
            </a:r>
          </a:p>
        </p:txBody>
      </p:sp>
    </p:spTree>
    <p:extLst>
      <p:ext uri="{BB962C8B-B14F-4D97-AF65-F5344CB8AC3E}">
        <p14:creationId xmlns:p14="http://schemas.microsoft.com/office/powerpoint/2010/main" val="189481487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4E308F-A22D-4CA9-909C-261A29C7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0FC443DD-B338-4BBE-8625-36E3C663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99583-F8C3-4EBE-A453-C1239172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6F146D-A533-4ABF-A9A3-9EAC9649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1695450"/>
            <a:ext cx="1127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BAF41-6747-4E56-884F-78A62D69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E4B587-B0E7-4563-8A88-3E711678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47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92A7F-7F7D-48BC-9BD3-247D219D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47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4E8AD8-B747-4664-9D31-8DDCAAD8D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209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55C57-85D5-43F7-B551-4D7D66E8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B0264D-DED6-4E51-9484-B702AF24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003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245E9E-709E-40F4-88E7-3CEF0DEF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003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9D0E91-DCEC-4FF6-BE2F-13925C6B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28956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CA56A5-86BD-422D-9CDA-35765C50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6B064-251E-40A4-A5B7-BC83788A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861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67538B-0566-4A4D-9226-1A5DF3C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861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3CD8F0-A03F-44A0-BCE5-2C5BB5F0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35814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8A0390-B461-4C07-A32D-0135F88B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67F589-BB39-45D4-A625-F82F6031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719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EF65F9-02F5-4EA2-971A-0B1E57C6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71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67A7EB-ABCA-4A21-BE47-B18804F8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2672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BCA309-BB4C-4C8F-B2D6-7A543C6D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61023A-D2D4-4504-BA15-B721A638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577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17DC27-C128-4D0B-A07A-7C46F14A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57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F70AB5-9B50-4FE4-A1C8-66B37E3C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49530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F98DF4-0127-4399-8211-DAA4A9F6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F5604F-3F81-409C-A638-BE831D4B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1435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542922-440C-4440-B4BB-74FE15FC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1435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9" name="stage-8-title">
            <a:extLst xmlns:a="http://schemas.openxmlformats.org/drawingml/2006/main">
              <a:ext uri="{FF2B5EF4-FFF2-40B4-BE49-F238E27FC236}">
                <a16:creationId xmlns:a16="http://schemas.microsoft.com/office/drawing/2014/main" id="{B770B396-C289-49BC-A5F7-9F512D8D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11827"/>
                </a:solidFill>
                <a:latin typeface="Apple SD Gothic Neo"/>
                <a:ea typeface="Apple SD Gothic Neo"/>
                <a:cs typeface="Apple SD Gothic Neo"/>
              </a:rPr>
              <a:t>04 · 추첨·발표</a:t>
            </a:r>
          </a:p>
        </p:txBody>
      </p:sp>
      <p:sp>
        <p:nvSpPr>
          <p:cNvPr id="30" name="stage-8-subtitle">
            <a:extLst xmlns:a="http://schemas.openxmlformats.org/drawingml/2006/main">
              <a:ext uri="{FF2B5EF4-FFF2-40B4-BE49-F238E27FC236}">
                <a16:creationId xmlns:a16="http://schemas.microsoft.com/office/drawing/2014/main" id="{58E90FFF-CBD7-4372-AFDA-B4B964278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진행 주체  운영자 → 참가자  ·  추첨 실행, OBS 발표, 휴대폰 결과 확인</a:t>
            </a:r>
          </a:p>
        </p:txBody>
      </p:sp>
      <p:sp>
        <p:nvSpPr>
          <p:cNvPr id="31" name="stage-8-page">
            <a:extLst xmlns:a="http://schemas.openxmlformats.org/drawingml/2006/main">
              <a:ext uri="{FF2B5EF4-FFF2-40B4-BE49-F238E27FC236}">
                <a16:creationId xmlns:a16="http://schemas.microsoft.com/office/drawing/2014/main" id="{88D4BD38-F07A-4F6E-9546-428944F2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  <p:sp>
        <p:nvSpPr>
          <p:cNvPr id="32" name="raffle-overlay-label">
            <a:extLst xmlns:a="http://schemas.openxmlformats.org/drawingml/2006/main">
              <a:ext uri="{FF2B5EF4-FFF2-40B4-BE49-F238E27FC236}">
                <a16:creationId xmlns:a16="http://schemas.microsoft.com/office/drawing/2014/main" id="{B873D143-657D-4EA5-B0EB-3B1313101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OBS 오버레이 · 당첨자 발표</a:t>
            </a:r>
          </a:p>
        </p:txBody>
      </p:sp>
      <p:sp>
        <p:nvSpPr>
          <p:cNvPr id="33" name="raffle-admin-label">
            <a:extLst xmlns:a="http://schemas.openxmlformats.org/drawingml/2006/main">
              <a:ext uri="{FF2B5EF4-FFF2-40B4-BE49-F238E27FC236}">
                <a16:creationId xmlns:a16="http://schemas.microsoft.com/office/drawing/2014/main" id="{5A845424-2A43-490A-8D1F-B03018703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657350"/>
            <a:ext cx="430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운영자 콘솔 · 추첨 완료</a:t>
            </a:r>
          </a:p>
        </p:txBody>
      </p:sp>
      <p:sp>
        <p:nvSpPr>
          <p:cNvPr id="34" name="raffle-overlay-frame">
            <a:extLst xmlns:a="http://schemas.openxmlformats.org/drawingml/2006/main">
              <a:ext uri="{FF2B5EF4-FFF2-40B4-BE49-F238E27FC236}">
                <a16:creationId xmlns:a16="http://schemas.microsoft.com/office/drawing/2014/main" id="{40035D83-487D-43D3-912C-1352DF1DF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81200"/>
            <a:ext cx="6667500" cy="3848100"/>
          </a:xfrm>
          <a:prstGeom xmlns:a="http://schemas.openxmlformats.org/drawingml/2006/main" prst="roundRect">
            <a:avLst>
              <a:gd name="adj" fmla="val 198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a35737b7de45f7"/>
          <a:stretch xmlns:a="http://schemas.openxmlformats.org/drawingml/2006/main"/>
        </p:blipFill>
        <p:spPr>
          <a:xfrm xmlns:a="http://schemas.openxmlformats.org/drawingml/2006/main">
            <a:off x="794921" y="2057400"/>
            <a:ext cx="5992057" cy="3695700"/>
          </a:xfrm>
          <a:prstGeom xmlns:a="http://schemas.openxmlformats.org/drawingml/2006/main" prst="rect">
            <a:avLst/>
          </a:prstGeom>
        </p:spPr>
      </p:pic>
      <p:sp>
        <p:nvSpPr>
          <p:cNvPr id="36" name="raffle-admin-frame">
            <a:extLst xmlns:a="http://schemas.openxmlformats.org/drawingml/2006/main">
              <a:ext uri="{FF2B5EF4-FFF2-40B4-BE49-F238E27FC236}">
                <a16:creationId xmlns:a16="http://schemas.microsoft.com/office/drawing/2014/main" id="{A7395A71-5C15-4DE6-B1AE-3E9FD65CB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981200"/>
            <a:ext cx="43053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dbe0be25c6418d"/>
          <a:stretch xmlns:a="http://schemas.openxmlformats.org/drawingml/2006/main"/>
        </p:blipFill>
        <p:spPr>
          <a:xfrm xmlns:a="http://schemas.openxmlformats.org/drawingml/2006/main">
            <a:off x="8122649" y="2057400"/>
            <a:ext cx="2919002" cy="1638300"/>
          </a:xfrm>
          <a:prstGeom xmlns:a="http://schemas.openxmlformats.org/drawingml/2006/main" prst="rect">
            <a:avLst/>
          </a:prstGeom>
        </p:spPr>
      </p:pic>
      <p:sp>
        <p:nvSpPr>
          <p:cNvPr id="38" name="raffle-mobile-label">
            <a:extLst xmlns:a="http://schemas.openxmlformats.org/drawingml/2006/main">
              <a:ext uri="{FF2B5EF4-FFF2-40B4-BE49-F238E27FC236}">
                <a16:creationId xmlns:a16="http://schemas.microsoft.com/office/drawing/2014/main" id="{337B0E69-FD04-4572-885C-2D8244C8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886200"/>
            <a:ext cx="430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667085"/>
                </a:solidFill>
                <a:latin typeface="Apple SD Gothic Neo"/>
                <a:ea typeface="Apple SD Gothic Neo"/>
                <a:cs typeface="Apple SD Gothic Neo"/>
              </a:rPr>
              <a:t>당첨자 모바일 · 결과 확인</a:t>
            </a:r>
          </a:p>
        </p:txBody>
      </p:sp>
      <p:sp>
        <p:nvSpPr>
          <p:cNvPr id="39" name="raffle-mobile-frame">
            <a:extLst xmlns:a="http://schemas.openxmlformats.org/drawingml/2006/main">
              <a:ext uri="{FF2B5EF4-FFF2-40B4-BE49-F238E27FC236}">
                <a16:creationId xmlns:a16="http://schemas.microsoft.com/office/drawing/2014/main" id="{214239F4-3847-4691-92B1-95091970C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10050"/>
            <a:ext cx="43053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9E0E8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0abc3f4c32401c"/>
          <a:stretch xmlns:a="http://schemas.openxmlformats.org/drawingml/2006/main"/>
        </p:blipFill>
        <p:spPr>
          <a:xfrm xmlns:a="http://schemas.openxmlformats.org/drawingml/2006/main">
            <a:off x="8747423" y="4286250"/>
            <a:ext cx="1669454" cy="14668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8148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37B61B-AEF3-4E37-A16A-01CF1D86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34250" y="0"/>
            <a:ext cx="4857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E31F40-28CD-48B6-8873-1062E8BD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695450"/>
            <a:ext cx="2038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6DCBF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6FF9AD-541D-4272-8EE5-176504A4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3143250" cy="3143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50BBAF-E0DD-4721-9C61-0378F8AE5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724150"/>
            <a:ext cx="2000250" cy="2000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DCBF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3AE30F-34ED-45BD-90C5-3ED79D2C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4480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00BDA7-EF12-4E84-9735-D5BCA15A8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1049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LIVE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CFBE6D-B798-4E35-9D55-406C129B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02920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DROP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54D87F-492E-4C72-BDAE-1A44A91A4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95400"/>
            <a:ext cx="619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5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54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4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LIVE DEMO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3E321B-325A-4818-B672-40B28DA06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00300"/>
            <a:ext cx="60007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지금부터 실제 흐름을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직접 보여드리겠습니다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B8C542-D17F-448B-B0E4-8FD8D08AC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71950"/>
            <a:ext cx="581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Twitch 로그인 → 이벤트 참여 → 추첨 → SodaGift LINK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617FBD-B1D3-4F1B-917A-03827577F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579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StreamDrop · Team 5</a:t>
            </a:r>
          </a:p>
        </p:txBody>
      </p:sp>
    </p:spTree>
    <p:extLst>
      <p:ext uri="{BB962C8B-B14F-4D97-AF65-F5344CB8AC3E}">
        <p14:creationId xmlns:p14="http://schemas.microsoft.com/office/powerpoint/2010/main" val="137761942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2F615A8-EAB6-4FDE-8DD0-9558B54B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24CB5A32-4795-49FA-A4B7-38DD172BB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Twitch 한계는 우회하고, AI 추천으로 다음 기회를 만든다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6B8FE8-EB6F-40FE-9F30-F0C591ABF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1BCEAF-FF93-46AE-B409-D1DC9C676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114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85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RISK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64355A-7F3F-4C97-8766-FEABAC17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19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30CFB8-CDCA-4DBF-B289-5C2196866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440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204 응답 ≠ 실제 수신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27A070-39DB-46A3-83A7-A62124B0A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71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85E4D2-A12E-4344-8D91-A91522FCC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95600"/>
            <a:ext cx="440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외부 LINK는 silent drop 가능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D5A653-1373-49C9-9513-5C027A5D2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24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809078-3E9B-4665-8C42-A667DE480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48050"/>
            <a:ext cx="440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배달 확인 API가 없음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F392E0-8605-4647-A0D1-4B584DD8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76700"/>
            <a:ext cx="95250" cy="95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522013-BF92-41B3-98B7-FD4961662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00500"/>
            <a:ext cx="440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40EC24-B820-436F-9256-BB8DF104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29150"/>
            <a:ext cx="95250" cy="95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BDB12A-BEF5-49F0-A358-8F1B17D2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4400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358FE1-BA90-41E0-89B1-FFAB1C49F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57350"/>
            <a:ext cx="0" cy="388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C45519-3AD7-479D-B656-B3A46C38F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76400"/>
            <a:ext cx="152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85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AI NEXT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79152B-70F4-48A0-8E92-67FFAC616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19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A40808-5738-4C30-8269-7AC257B94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43150"/>
            <a:ext cx="4305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팔로우 채널·국가를 분석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A3A958-88D5-4810-9760-F5DFFFBE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71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C17961-F2C6-4A2C-8B11-1D30E1A3D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95600"/>
            <a:ext cx="4305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Claude로 상품 Top 3 추천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42C06D-669B-4488-916E-7660514BF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24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52A182-6C43-4716-BA77-C0498933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48050"/>
            <a:ext cx="4305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낙첨자를 후속 구매로 전환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9C1553-8B42-4AC6-83FC-64D09BBBB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076700"/>
            <a:ext cx="95250" cy="95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4FB4A4-4454-4656-B90E-6F9C08DFE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000500"/>
            <a:ext cx="4305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D01789-2B99-41CC-BA8E-D341C92C2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629150"/>
            <a:ext cx="95250" cy="95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D896A3-8B7D-4129-8029-879590652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552950"/>
            <a:ext cx="4305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B92413-BFAF-45E3-802D-E90A0A1D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7215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귓속말은 보조 경로, AI 추천은 다음 구매 기회로 연결한다.</a:t>
            </a:r>
          </a:p>
        </p:txBody>
      </p:sp>
    </p:spTree>
    <p:extLst>
      <p:ext uri="{BB962C8B-B14F-4D97-AF65-F5344CB8AC3E}">
        <p14:creationId xmlns:p14="http://schemas.microsoft.com/office/powerpoint/2010/main" val="102171736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5852E2-756D-44C5-B2D1-38E242A3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12-title">
            <a:extLst xmlns:a="http://schemas.openxmlformats.org/drawingml/2006/main">
              <a:ext uri="{FF2B5EF4-FFF2-40B4-BE49-F238E27FC236}">
                <a16:creationId xmlns:a16="http://schemas.microsoft.com/office/drawing/2014/main" id="{2E771DDC-5D8A-4698-816A-6925E8CD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라이브 이벤트와 AI 추천이 SodaGift의 반복 주문을 만든다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3D5CC4-9866-4962-B4B6-3818C58EC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D9A56A-C083-4E93-924E-1B707C495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300" y="2000250"/>
            <a:ext cx="22669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0">
            <a:solidFill>
              <a:srgbClr val="F5F7F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69ABD1-3F45-4960-B18E-1A6A0F89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1885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브랜드·주최자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1E6087-EEF1-4E80-81EA-D907080D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88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당첨 전 · 캠페인 준비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0D9816-7867-4F4E-BDF8-0A7C94F8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4193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98A2B3"/>
                </a:solidFill>
                <a:latin typeface="Apple SD Gothic Neo"/>
                <a:ea typeface="Apple SD Gothic Neo"/>
                <a:cs typeface="Apple SD Gothic Neo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F7487E-4C29-4C4E-8BD7-0FE986E60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2800" y="2000250"/>
            <a:ext cx="22669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9EEF5"/>
          </a:solidFill>
          <a:ln xmlns:a="http://schemas.openxmlformats.org/drawingml/2006/main" w="0">
            <a:solidFill>
              <a:srgbClr val="E9EEF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4D5281-D1C0-4BFA-98EE-6D940BFFD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266950"/>
            <a:ext cx="1885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1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방송 스트리밍 (Twitch)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01EC9C-408A-4DF9-8B2A-5A249A388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724150"/>
            <a:ext cx="188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당첨 전 · 실시간 참여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012E11-8689-449C-A138-F9FE1B5F8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4193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C36965-B2AD-4E75-B1FD-6B1358D2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10300" y="2000250"/>
            <a:ext cx="22669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E2F9BE-C519-41F1-A72B-D81F9FE6A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66950"/>
            <a:ext cx="1885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15DD6A-1459-423B-9895-C2A0C0222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24150"/>
            <a:ext cx="188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당첨 순간 · 추첨 확정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31F0AE-5020-432D-B2EB-A0A538DE8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4193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71FBF9-09D7-4EC0-B3CF-D043D88B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67800" y="2000250"/>
            <a:ext cx="22669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5D86"/>
          </a:solidFill>
          <a:ln xmlns:a="http://schemas.openxmlformats.org/drawingml/2006/main" w="0">
            <a:solidFill>
              <a:srgbClr val="EC5D8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0836E9-E168-4192-8926-A25363D4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266950"/>
            <a:ext cx="1885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SodaGift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A60E62-D4CB-4002-91B7-B8BA7C330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724150"/>
            <a:ext cx="188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D7E8FF"/>
                </a:solidFill>
                <a:latin typeface="Apple SD Gothic Neo"/>
                <a:ea typeface="Apple SD Gothic Neo"/>
                <a:cs typeface="Apple SD Gothic Neo"/>
              </a:rPr>
              <a:t>당첨 후 · LINK 발급·수령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1BEF1C-40AE-4DF7-B8FE-CB00327B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481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현실적인 수익 구조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FBB04B-28F0-4AFD-8A9D-D425C14E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481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캠페인 이용료 + 경품·후속 주문 수수료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0F49F6-279C-49DC-A546-893406ACA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K-CON · 게임 출시 · 팬미팅 · 스포츠 라이브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86B842-3E23-4384-9738-C301F1504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67150"/>
            <a:ext cx="0" cy="1524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DDC584-6E95-41BE-8D30-2B62DCFC7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8481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AI 추천 → 재구매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74EE57-CA26-46AD-9719-6D76728B8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48150"/>
            <a:ext cx="285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행동·취향 데이터 분석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맞춤 상품 Top 3 추천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후속 구매 → 반복 주문</a:t>
            </a:r>
          </a:p>
        </p:txBody>
      </p:sp>
    </p:spTree>
    <p:extLst>
      <p:ext uri="{BB962C8B-B14F-4D97-AF65-F5344CB8AC3E}">
        <p14:creationId xmlns:p14="http://schemas.microsoft.com/office/powerpoint/2010/main" val="191450368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BA3702-63BE-47E6-BF32-898DF300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</a:t>
            </a:r>
          </a:p>
        </p:txBody>
      </p:sp>
      <p:sp>
        <p:nvSpPr>
          <p:cNvPr id="2" name="slide-13-title">
            <a:extLst xmlns:a="http://schemas.openxmlformats.org/drawingml/2006/main">
              <a:ext uri="{FF2B5EF4-FFF2-40B4-BE49-F238E27FC236}">
                <a16:creationId xmlns:a16="http://schemas.microsoft.com/office/drawing/2014/main" id="{0425055D-11B1-4B87-8471-D48F2450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Q&amp;A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838977-11E4-4E80-88C0-005846B28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008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6F7680"/>
                </a:solidFill>
                <a:latin typeface="Apple SD Gothic Neo"/>
                <a:ea typeface="Apple SD Gothic Neo"/>
                <a:cs typeface="Apple SD Gothic Neo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1746E8-F187-418B-8771-92762AFF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1676400"/>
            <a:ext cx="1127760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0A0A0A"/>
          </a:solidFill>
          <a:ln xmlns:a="http://schemas.openxmlformats.org/drawingml/2006/main" w="0">
            <a:solidFill>
              <a:srgbClr val="0A0A0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4B4E0-3281-487B-86B2-B51AA4248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1047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“당첨의 순간을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8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전 세계 팬의 선물로 연결합니다.”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AD0404-8FB8-44E4-99B8-58331D822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05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55725D-8B93-4F0A-87DE-EC000B40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0530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Twitch·OBS로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실시간 참여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6A8A56-F282-4068-AC6A-8F7E62E10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05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3188E0-1054-4BFC-BB41-055FC7B5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0530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국가 선택으로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글로벌 지급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E2758C-11EA-441A-B06C-14E4EC83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3F0E4F-FEC4-48FB-8523-86E2F55E1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30530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당첨자 승인 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개인 LINK 발급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A36E79-6EF6-4EEB-B6A7-B3159F25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05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B75BB7-E843-4808-8066-791106673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30530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반복 이벤트가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A0A0A"/>
                </a:solidFill>
                <a:latin typeface="Apple SD Gothic Neo"/>
                <a:ea typeface="Apple SD Gothic Neo"/>
                <a:cs typeface="Apple SD Gothic Neo"/>
              </a:rPr>
              <a:t>SodaGift 주문으로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D0C1CB-4B82-419C-8918-32D48A1BC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95950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3D8DFF"/>
                </a:solidFill>
                <a:latin typeface="Apple SD Gothic Neo"/>
                <a:ea typeface="Apple SD Gothic Neo"/>
                <a:cs typeface="Apple SD Gothic Neo"/>
              </a:rPr>
              <a:t>StreamDrop × SodaGift — 글로벌 팬 리워드의 가장 짧은 경로</a:t>
            </a:r>
          </a:p>
        </p:txBody>
      </p:sp>
    </p:spTree>
    <p:extLst>
      <p:ext uri="{BB962C8B-B14F-4D97-AF65-F5344CB8AC3E}">
        <p14:creationId xmlns:p14="http://schemas.microsoft.com/office/powerpoint/2010/main" val="9004982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2026-08-30T17:15:34.7340000Z</dcterms:created>
  <dcterms:modified xsi:type="dcterms:W3CDTF">2026-08-30T17:15:34.7340000Z</dcterms:modified>
</coreProperties>
</file>