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57e56fc74a4f26" /><Relationship Type="http://schemas.openxmlformats.org/officeDocument/2006/relationships/extended-properties" Target="/docProps/app.xml" Id="R64fceeb7c3a94962" /><Relationship Type="http://schemas.openxmlformats.org/officeDocument/2006/relationships/officeDocument" Target="/ppt/presentation.xml" Id="Rf23553ca688547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0ff8e143ff4be5"/>
  </p:sldMasterIdLst>
  <p:notesMasterIdLst>
    <p:notesMasterId xmlns:r="http://schemas.openxmlformats.org/officeDocument/2006/relationships" r:id="R795e93d4c4a643f3"/>
  </p:notesMasterIdLst>
  <p:sldIdLst>
    <p:sldId xmlns:r="http://schemas.openxmlformats.org/officeDocument/2006/relationships" id="256" r:id="Rce8af6b8ff0a4d28"/>
    <p:sldId xmlns:r="http://schemas.openxmlformats.org/officeDocument/2006/relationships" id="257" r:id="Reb863e0e6f6c49bc"/>
    <p:sldId xmlns:r="http://schemas.openxmlformats.org/officeDocument/2006/relationships" id="258" r:id="Rc466ca5bb06c4a96"/>
    <p:sldId xmlns:r="http://schemas.openxmlformats.org/officeDocument/2006/relationships" id="259" r:id="R5121d9f656c44a67"/>
    <p:sldId xmlns:r="http://schemas.openxmlformats.org/officeDocument/2006/relationships" id="260" r:id="R66b63024b385451f"/>
    <p:sldId xmlns:r="http://schemas.openxmlformats.org/officeDocument/2006/relationships" id="261" r:id="R748b2c150f164c1f"/>
    <p:sldId xmlns:r="http://schemas.openxmlformats.org/officeDocument/2006/relationships" id="262" r:id="Rbc73ffbe4ba64c9f"/>
    <p:sldId xmlns:r="http://schemas.openxmlformats.org/officeDocument/2006/relationships" id="263" r:id="R0238d203411949cf"/>
    <p:sldId xmlns:r="http://schemas.openxmlformats.org/officeDocument/2006/relationships" id="264" r:id="R2b15fc8c8f344925"/>
    <p:sldId xmlns:r="http://schemas.openxmlformats.org/officeDocument/2006/relationships" id="265" r:id="R41f9794efab64e33"/>
    <p:sldId xmlns:r="http://schemas.openxmlformats.org/officeDocument/2006/relationships" id="266" r:id="R751bfd07528648ba"/>
    <p:sldId xmlns:r="http://schemas.openxmlformats.org/officeDocument/2006/relationships" id="267" r:id="R520e1e5d01d746a1"/>
    <p:sldId xmlns:r="http://schemas.openxmlformats.org/officeDocument/2006/relationships" id="268" r:id="Rbf52deb1f6a24c1b"/>
    <p:sldId xmlns:r="http://schemas.openxmlformats.org/officeDocument/2006/relationships" id="269" r:id="R51088dda2a624063"/>
    <p:sldId xmlns:r="http://schemas.openxmlformats.org/officeDocument/2006/relationships" id="270" r:id="R3cc048727f154181"/>
    <p:sldId xmlns:r="http://schemas.openxmlformats.org/officeDocument/2006/relationships" id="271" r:id="R1d3ad3c656794f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7efce9184a4b10" /><Relationship Type="http://schemas.openxmlformats.org/officeDocument/2006/relationships/slideMaster" Target="/ppt/slideMasters/slideMaster1.xml" Id="R550ff8e143ff4be5" /><Relationship Type="http://schemas.openxmlformats.org/officeDocument/2006/relationships/notesMaster" Target="/ppt/notesMasters/notesMaster1.xml" Id="R795e93d4c4a643f3" /><Relationship Type="http://schemas.openxmlformats.org/officeDocument/2006/relationships/presProps" Target="/ppt/presProps.xml" Id="Ra51856075b154289" /><Relationship Type="http://schemas.openxmlformats.org/officeDocument/2006/relationships/tableStyles" Target="/ppt/tableStyles.xml" Id="R40cc1f901eb648ec" /><Relationship Type="http://schemas.openxmlformats.org/officeDocument/2006/relationships/slide" Target="/ppt/slides/slide1.xml" Id="Rce8af6b8ff0a4d28" /><Relationship Type="http://schemas.openxmlformats.org/officeDocument/2006/relationships/slide" Target="/ppt/slides/slide2.xml" Id="Reb863e0e6f6c49bc" /><Relationship Type="http://schemas.openxmlformats.org/officeDocument/2006/relationships/slide" Target="/ppt/slides/slide3.xml" Id="Rc466ca5bb06c4a96" /><Relationship Type="http://schemas.openxmlformats.org/officeDocument/2006/relationships/slide" Target="/ppt/slides/slide4.xml" Id="R5121d9f656c44a67" /><Relationship Type="http://schemas.openxmlformats.org/officeDocument/2006/relationships/slide" Target="/ppt/slides/slide5.xml" Id="R66b63024b385451f" /><Relationship Type="http://schemas.openxmlformats.org/officeDocument/2006/relationships/slide" Target="/ppt/slides/slide6.xml" Id="R748b2c150f164c1f" /><Relationship Type="http://schemas.openxmlformats.org/officeDocument/2006/relationships/slide" Target="/ppt/slides/slide7.xml" Id="Rbc73ffbe4ba64c9f" /><Relationship Type="http://schemas.openxmlformats.org/officeDocument/2006/relationships/slide" Target="/ppt/slides/slide8.xml" Id="R0238d203411949cf" /><Relationship Type="http://schemas.openxmlformats.org/officeDocument/2006/relationships/slide" Target="/ppt/slides/slide9.xml" Id="R2b15fc8c8f344925" /><Relationship Type="http://schemas.openxmlformats.org/officeDocument/2006/relationships/slide" Target="/ppt/slides/slide10.xml" Id="R41f9794efab64e33" /><Relationship Type="http://schemas.openxmlformats.org/officeDocument/2006/relationships/slide" Target="/ppt/slides/slide11.xml" Id="R751bfd07528648ba" /><Relationship Type="http://schemas.openxmlformats.org/officeDocument/2006/relationships/slide" Target="/ppt/slides/slide12.xml" Id="R520e1e5d01d746a1" /><Relationship Type="http://schemas.openxmlformats.org/officeDocument/2006/relationships/slide" Target="/ppt/slides/slide13.xml" Id="Rbf52deb1f6a24c1b" /><Relationship Type="http://schemas.openxmlformats.org/officeDocument/2006/relationships/slide" Target="/ppt/slides/slide14.xml" Id="R51088dda2a624063" /><Relationship Type="http://schemas.openxmlformats.org/officeDocument/2006/relationships/slide" Target="/ppt/slides/slide15.xml" Id="R3cc048727f154181" /><Relationship Type="http://schemas.openxmlformats.org/officeDocument/2006/relationships/slide" Target="/ppt/slides/slide16.xml" Id="R1d3ad3c656794f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9d7ffd279042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22cc438e1b4bdc" /><Relationship Type="http://schemas.openxmlformats.org/officeDocument/2006/relationships/notesMaster" Target="/ppt/notesMasters/notesMaster1.xml" Id="R8f78cfc822c445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386eb4bff8453c" /><Relationship Type="http://schemas.openxmlformats.org/officeDocument/2006/relationships/notesMaster" Target="/ppt/notesMasters/notesMaster1.xml" Id="Rd41c6375ffa645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6762f912414760" /><Relationship Type="http://schemas.openxmlformats.org/officeDocument/2006/relationships/notesMaster" Target="/ppt/notesMasters/notesMaster1.xml" Id="R58167e70a7524e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fcb21cb1a0418d" /><Relationship Type="http://schemas.openxmlformats.org/officeDocument/2006/relationships/notesMaster" Target="/ppt/notesMasters/notesMaster1.xml" Id="Rfc364f36bb854b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1241f7d8d24347" /><Relationship Type="http://schemas.openxmlformats.org/officeDocument/2006/relationships/notesMaster" Target="/ppt/notesMasters/notesMaster1.xml" Id="R2a2e63aabb3745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598a100a0b444c" /><Relationship Type="http://schemas.openxmlformats.org/officeDocument/2006/relationships/notesMaster" Target="/ppt/notesMasters/notesMaster1.xml" Id="R305b4d8ad6284d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30d85bd5e344a5" /><Relationship Type="http://schemas.openxmlformats.org/officeDocument/2006/relationships/notesMaster" Target="/ppt/notesMasters/notesMaster1.xml" Id="Rcd168fee6b9b4a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f7aada4f4f4d49" /><Relationship Type="http://schemas.openxmlformats.org/officeDocument/2006/relationships/notesMaster" Target="/ppt/notesMasters/notesMaster1.xml" Id="Rbb2a15b4099646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8200d67db84769" /><Relationship Type="http://schemas.openxmlformats.org/officeDocument/2006/relationships/notesMaster" Target="/ppt/notesMasters/notesMaster1.xml" Id="Rb906d2f6e66548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0ef87c4b0f4bed" /><Relationship Type="http://schemas.openxmlformats.org/officeDocument/2006/relationships/notesMaster" Target="/ppt/notesMasters/notesMaster1.xml" Id="R670f50769c8a46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b39f40f93940c8" /><Relationship Type="http://schemas.openxmlformats.org/officeDocument/2006/relationships/notesMaster" Target="/ppt/notesMasters/notesMaster1.xml" Id="Rda90da9008974e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8a3cbb133b4d02" /><Relationship Type="http://schemas.openxmlformats.org/officeDocument/2006/relationships/notesMaster" Target="/ppt/notesMasters/notesMaster1.xml" Id="R42ea90fca8cc4e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e9fb91705d441f3" /><Relationship Type="http://schemas.openxmlformats.org/officeDocument/2006/relationships/notesMaster" Target="/ppt/notesMasters/notesMaster1.xml" Id="Rd9ef0a1cea7748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308e4089318425a" /><Relationship Type="http://schemas.openxmlformats.org/officeDocument/2006/relationships/notesMaster" Target="/ppt/notesMasters/notesMaster1.xml" Id="R0c314212abb743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2b762eb0f504701" /><Relationship Type="http://schemas.openxmlformats.org/officeDocument/2006/relationships/notesMaster" Target="/ppt/notesMasters/notesMaster1.xml" Id="R048151d450d94b6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b9f888d3a84425" /><Relationship Type="http://schemas.openxmlformats.org/officeDocument/2006/relationships/notesMaster" Target="/ppt/notesMasters/notesMaster1.xml" Id="R496528412e5944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Guide]</a:t>
            </a:r>
          </a:p>
          <a:p xmlns:a="http://schemas.openxmlformats.org/drawingml/2006/main">
            <a:r>
              <a:t>00:00–00:10 (10초)</a:t>
            </a:r>
          </a:p>
          <a:p xmlns:a="http://schemas.openxmlformats.org/drawingml/2006/main">
            <a:r>
              <a:t>한 문장: 글로벌 라이브 당첨을 국가별 SodaGift 수령까지 연결한 StreamDrop입니다.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implementation: https://github.com/Changjae-LE/socal-k-group-hackathon/tree/feature/TEAM5-sodagift-LINK-test</a:t>
            </a:r>
          </a:p>
          <a:p xmlns:a="http://schemas.openxmlformats.org/drawingml/2006/main">
            <a:r>
              <a:t>- SodaGift overview: https://sodagift.com/ko/about-us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Guide]</a:t>
            </a:r>
          </a:p>
          <a:p xmlns:a="http://schemas.openxmlformats.org/drawingml/2006/main">
            <a:r>
              <a:t>00:10–00:25 (15초)</a:t>
            </a:r>
          </a:p>
          <a:p xmlns:a="http://schemas.openxmlformats.org/drawingml/2006/main">
            <a:r>
              <a:t>네 명의 이름만 빠르게 소개하고 역할 설명은 생략합니다.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member names supplied by Team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Guide]</a:t>
            </a:r>
          </a:p>
          <a:p xmlns:a="http://schemas.openxmlformats.org/drawingml/2006/main">
            <a:r>
              <a:t>00:25–01:10 (45초)</a:t>
            </a:r>
          </a:p>
          <a:p xmlns:a="http://schemas.openxmlformats.org/drawingml/2006/main">
            <a:r>
              <a:t>팀 논의에서 확인한 채택 이유는 국가 장벽, 라이브 즉시성, SodaGift LINK 적합성입니다.</a:t>
            </a:r>
          </a:p>
          <a:p xmlns:a="http://schemas.openxmlformats.org/drawingml/2006/main">
            <a:r>
              <a:t>세 가지를 동시에 보여주면서 하루 안에 시연할 수 있는 StreamDrop을 선택했습니다.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Idea adoption rationale based on Team 5 product discussion.</a:t>
            </a:r>
          </a:p>
          <a:p xmlns:a="http://schemas.openxmlformats.org/drawingml/2006/main">
            <a:r>
              <a:t>- SodaGift API introduction: https://kr-bizsodagift-docs.readme.io/docs/introduction</a:t>
            </a:r>
          </a:p>
          <a:p xmlns:a="http://schemas.openxmlformats.org/drawingml/2006/main">
            <a:r>
              <a:t>- SodaGift company overview: https://sodagift.com/ko/about-us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Guide]</a:t>
            </a:r>
          </a:p>
          <a:p xmlns:a="http://schemas.openxmlformats.org/drawingml/2006/main">
            <a:r>
              <a:t>01:10–02:20 (70초)</a:t>
            </a:r>
          </a:p>
          <a:p xmlns:a="http://schemas.openxmlformats.org/drawingml/2006/main">
            <a:r>
              <a:t>Streaming은 Twitch OAuth와 OBS Browser Source, StreamDrop은 운영·참여·추첨 흐름을 담당합니다.</a:t>
            </a:r>
          </a:p>
          <a:p xmlns:a="http://schemas.openxmlformats.org/drawingml/2006/main">
            <a:r>
              <a:t>Firebase는 실시간 상태를 동기화하고 SodaGift는 당첨자 요청 뒤 LINK URL을 반환하며, API 키는 서버 측 경계에만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implementation: https://github.com/Changjae-LE/socal-k-group-hackathon/tree/feature/TEAM5-sodagift-LINK-test</a:t>
            </a:r>
          </a:p>
          <a:p xmlns:a="http://schemas.openxmlformats.org/drawingml/2006/main">
            <a:r>
              <a:t>- SodaGift order lifecycle: https://kr-bizsodagift-docs.readme.io/docs/order-lifecycle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Guide]</a:t>
            </a:r>
          </a:p>
          <a:p xmlns:a="http://schemas.openxmlformats.org/drawingml/2006/main">
            <a:r>
              <a:t>02:20–02:25 (5초)</a:t>
            </a:r>
          </a:p>
          <a:p xmlns:a="http://schemas.openxmlformats.org/drawingml/2006/main">
            <a:r>
              <a:t>운영자가 이벤트를 시작하면 OBS 오버레이의 QR이 활성화됩니다.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Screenshot: /Users/dexter.kim/Library/CloudStorage/OneDrive-ResMedCorp/Documents/Screenshot 2026-08-30 at 9.54.15 AM.png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Guide]</a:t>
            </a:r>
          </a:p>
          <a:p xmlns:a="http://schemas.openxmlformats.org/drawingml/2006/main">
            <a:r>
              <a:t>02:25–02:30 (5초)</a:t>
            </a:r>
          </a:p>
          <a:p xmlns:a="http://schemas.openxmlformats.org/drawingml/2006/main">
            <a:r>
              <a:t>참가자는 QR을 스캔하고 Twitch 로그인과 국가 선택으로 참여를 등록합니다.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Screenshot: /Users/dexter.kim/Library/CloudStorage/OneDrive-ResMedCorp/Documents/Screenshot 2026-08-30 at 12.49.17 AM.png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Guide]</a:t>
            </a:r>
          </a:p>
          <a:p xmlns:a="http://schemas.openxmlformats.org/drawingml/2006/main">
            <a:r>
              <a:t>02:30–02:35 (5초)</a:t>
            </a:r>
          </a:p>
          <a:p xmlns:a="http://schemas.openxmlformats.org/drawingml/2006/main">
            <a:r>
              <a:t>참여 완료 정보가 Firestore를 통해 운영자 콘솔에 실시간 반영됩니다.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Screenshots: /Users/dexter.kim/Library/CloudStorage/OneDrive-ResMedCorp/Documents/Screenshot 2026-08-30 at 9.57.50 AM.png; /Users/dexter.kim/Library/CloudStorage/OneDrive-ResMedCorp/Documents/Screenshot 2026-08-30 at 12.49.54 AM.png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Guide]</a:t>
            </a:r>
          </a:p>
          <a:p xmlns:a="http://schemas.openxmlformats.org/drawingml/2006/main">
            <a:r>
              <a:t>02:35–02:40 (5초)</a:t>
            </a:r>
          </a:p>
          <a:p xmlns:a="http://schemas.openxmlformats.org/drawingml/2006/main">
            <a:r>
              <a:t>운영자가 추첨하면 OBS와 참가자 휴대폰에 당첨 결과가 동시에 표시됩니다.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Screenshots: /Users/dexter.kim/Library/CloudStorage/OneDrive-ResMedCorp/Documents/Screenshot 2026-08-30 at 9.59.05 AM.png; /Users/dexter.kim/Library/CloudStorage/OneDrive-ResMedCorp/Documents/Screenshot 2026-08-29 at 11.43.50 PM.png; /Users/dexter.kim/Library/CloudStorage/OneDrive-ResMedCorp/Documents/Screenshot 2026-08-30 at 12.52.09 AM.png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Guide]</a:t>
            </a:r>
          </a:p>
          <a:p xmlns:a="http://schemas.openxmlformats.org/drawingml/2006/main">
            <a:r>
              <a:t>02:40–02:45 (5초)</a:t>
            </a:r>
          </a:p>
          <a:p xmlns:a="http://schemas.openxmlformats.org/drawingml/2006/main">
            <a:r>
              <a:t>StreamDrop 당첨 화면에 표시되는 선물 받기 버튼과 LINK 발급 안내를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Screenshot: /Users/dexter.kim/Library/CloudStorage/OneDrive-ResMedCorp/Documents/Screenshot 2026-08-30 at 1.21.51 PM.png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Guide]</a:t>
            </a:r>
          </a:p>
          <a:p xmlns:a="http://schemas.openxmlformats.org/drawingml/2006/main">
            <a:r>
              <a:t>02:45–02:50 (5초)</a:t>
            </a:r>
          </a:p>
          <a:p xmlns:a="http://schemas.openxmlformats.org/drawingml/2006/main">
            <a:r>
              <a:t>발급된 SodaGift LINK에서 StreamDrop 당첨 리워드 안내를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Screenshot: /Users/dexter.kim/Library/CloudStorage/OneDrive-ResMedCorp/Documents/Screenshot 2026-08-30 at 1.21.28 PM.png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Guide]</a:t>
            </a:r>
          </a:p>
          <a:p xmlns:a="http://schemas.openxmlformats.org/drawingml/2006/main">
            <a:r>
              <a:t>02:50–02:55 (5초)</a:t>
            </a:r>
          </a:p>
          <a:p xmlns:a="http://schemas.openxmlformats.org/drawingml/2006/main">
            <a:r>
              <a:t>당첨자가 선택한 상품의 바코드와 사용 정보를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Screenshot: /Users/dexter.kim/Library/CloudStorage/OneDrive-ResMedCorp/Documents/Screenshot 2026-08-30 at 1.21.40 PM.png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Guide]</a:t>
            </a:r>
          </a:p>
          <a:p xmlns:a="http://schemas.openxmlformats.org/drawingml/2006/main">
            <a:r>
              <a:t>02:55–03:00 (5초)</a:t>
            </a:r>
          </a:p>
          <a:p xmlns:a="http://schemas.openxmlformats.org/drawingml/2006/main">
            <a:r>
              <a:t>낙첨자에게는 Twitch 관심사와 국가별 SodaGift 카탈로그를 반영한 Top 3 추천이 표시됩니다.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Screenshot: /Users/dexter.kim/Library/CloudStorage/OneDrive-ResMedCorp/Documents/ChatGPT/Socal K Hackerton/StreamDrop_v4_10min/assets/loser-ai-recommendation.png</a:t>
            </a:r>
          </a:p>
          <a:p xmlns:a="http://schemas.openxmlformats.org/drawingml/2006/main">
            <a:r>
              <a:t>- Product AI implementation: raffle-app/app/services/recommend.py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Guide]</a:t>
            </a:r>
          </a:p>
          <a:p xmlns:a="http://schemas.openxmlformats.org/drawingml/2006/main">
            <a:r>
              <a:t>03:00–03:05 (5초) 이후 03:05–09:05 라이브 데모 (6분)</a:t>
            </a:r>
          </a:p>
          <a:p xmlns:a="http://schemas.openxmlformats.org/drawingml/2006/main">
            <a:r>
              <a:t>이제 설명을 멈추고 실제 Twitch 연동 흐름을 시연합니다.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demo sequence based on Team 5's implemented StreamDrop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Guide]</a:t>
            </a:r>
          </a:p>
          <a:p xmlns:a="http://schemas.openxmlformats.org/drawingml/2006/main">
            <a:r>
              <a:t>09:05–09:30 (25초)</a:t>
            </a:r>
          </a:p>
          <a:p xmlns:a="http://schemas.openxmlformats.org/drawingml/2006/main">
            <a:r>
              <a:t>귓속말의 silent drop은 직접 수령 화면으로 우회했습니다.</a:t>
            </a:r>
          </a:p>
          <a:p xmlns:a="http://schemas.openxmlformats.org/drawingml/2006/main">
            <a:r>
              <a:t>feat/ai-gift-recommendation은 낙첨자에게 국가와 Twitch 관심사 기반 Top 3를 추천합니다.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Twitch Whisper API silent-drop behavior: https://dev.twitch.tv/docs/chat/whispers/</a:t>
            </a:r>
          </a:p>
          <a:p xmlns:a="http://schemas.openxmlformats.org/drawingml/2006/main">
            <a:r>
              <a:t>- Twitch Whisper privacy settings: https://help.twitch.tv/s/article/how-to-use-whispers</a:t>
            </a:r>
          </a:p>
          <a:p xmlns:a="http://schemas.openxmlformats.org/drawingml/2006/main">
            <a:r>
              <a:t>- AI gift recommendation branch: https://github.com/Changjae-LE/socal-k-group-hackathon/tree/feat/ai-gift-recommendation</a:t>
            </a:r>
          </a:p>
          <a:p xmlns:a="http://schemas.openxmlformats.org/drawingml/2006/main">
            <a:r>
              <a:t>- Product AI implementation: raffle-app/app/services/recommend.py at commit e040c6a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Guide]</a:t>
            </a:r>
          </a:p>
          <a:p xmlns:a="http://schemas.openxmlformats.org/drawingml/2006/main">
            <a:r>
              <a:t>09:30–10:00 (30초)</a:t>
            </a:r>
          </a:p>
          <a:p xmlns:a="http://schemas.openxmlformats.org/drawingml/2006/main">
            <a:r>
              <a:t>글로벌 팬 참여를 국경 없는 구매 여정으로 전환하고, K-CON·게임·팬미팅·스포츠까지 확장할 수 있습니다.</a:t>
            </a:r>
          </a:p>
          <a:p xmlns:a="http://schemas.openxmlformats.org/drawingml/2006/main">
            <a:r>
              <a:t>캠페인 운영 이용료와 경품·후속 주문 수수료를 만들고, AI 추천으로 반복 구매와 고객가치를 높입니다.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SodaGift company overview: https://sodagift.com/ko/about-us</a:t>
            </a:r>
          </a:p>
          <a:p xmlns:a="http://schemas.openxmlformats.org/drawingml/2006/main">
            <a:r>
              <a:t>- AI gift recommendation branch: https://github.com/Changjae-LE/socal-k-group-hackathon/tree/feat/ai-gift-recommendation</a:t>
            </a:r>
          </a:p>
          <a:p xmlns:a="http://schemas.openxmlformats.org/drawingml/2006/main">
            <a:r>
              <a:t>- Use cases and revenue model are Team 5 product hypotheses for the hackathon.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Guide]</a:t>
            </a:r>
          </a:p>
          <a:p xmlns:a="http://schemas.openxmlformats.org/drawingml/2006/main">
            <a:r>
              <a:t>10:00–15:00 Q&amp;A (5분)</a:t>
            </a:r>
          </a:p>
          <a:p xmlns:a="http://schemas.openxmlformats.org/drawingml/2006/main">
            <a:r>
              <a:t>질문이 없으면 네 가지 핵심 가치 중 하나를 짚어 실제 데모와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Closing summary based on Team 5 product concept and implemented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4fb96e26a4a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8ee6af806a4060" /><Relationship Type="http://schemas.openxmlformats.org/officeDocument/2006/relationships/slideLayout" Target="/ppt/slideLayouts/slideLayout1.xml" Id="R9e83267d35f242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83267d35f242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240fe500f4173" /><Relationship Type="http://schemas.openxmlformats.org/officeDocument/2006/relationships/notesSlide" Target="/ppt/notesSlides/notesSlide1.xml" Id="R6265e878bdb24d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d3b347a404338" /><Relationship Type="http://schemas.openxmlformats.org/officeDocument/2006/relationships/notesSlide" Target="/ppt/notesSlides/notesSlide2.xml" Id="R38c6af8a9cf54c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9d461927144a5" /><Relationship Type="http://schemas.openxmlformats.org/officeDocument/2006/relationships/notesSlide" Target="/ppt/notesSlides/notesSlide3.xml" Id="R26bbcc3ea60f44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397893f51411d" /><Relationship Type="http://schemas.openxmlformats.org/officeDocument/2006/relationships/notesSlide" Target="/ppt/notesSlides/notesSlide4.xml" Id="Rde1d6c25165441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57ccdf55c44e6" /><Relationship Type="http://schemas.openxmlformats.org/officeDocument/2006/relationships/image" Target="/ppt/media/image.png" Id="R57316edd9c794f23" /><Relationship Type="http://schemas.openxmlformats.org/officeDocument/2006/relationships/notesSlide" Target="/ppt/notesSlides/notesSlide5.xml" Id="Re1c95f3d034141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50f418281421e" /><Relationship Type="http://schemas.openxmlformats.org/officeDocument/2006/relationships/image" Target="/ppt/media/image2.png" Id="R99870077a42745f2" /><Relationship Type="http://schemas.openxmlformats.org/officeDocument/2006/relationships/notesSlide" Target="/ppt/notesSlides/notesSlide6.xml" Id="Raa7fc445937946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73227cdb44f36" /><Relationship Type="http://schemas.openxmlformats.org/officeDocument/2006/relationships/image" Target="/ppt/media/image3.png" Id="R6965b81c5fc6417a" /><Relationship Type="http://schemas.openxmlformats.org/officeDocument/2006/relationships/image" Target="/ppt/media/image4.png" Id="Ra4853b8a23454436" /><Relationship Type="http://schemas.openxmlformats.org/officeDocument/2006/relationships/notesSlide" Target="/ppt/notesSlides/notesSlide7.xml" Id="R50d7b91245794d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0780f981a42e8" /><Relationship Type="http://schemas.openxmlformats.org/officeDocument/2006/relationships/image" Target="/ppt/media/image5.png" Id="R44b4bb95b72d4c0d" /><Relationship Type="http://schemas.openxmlformats.org/officeDocument/2006/relationships/image" Target="/ppt/media/image6.png" Id="Rb7a9993344994f85" /><Relationship Type="http://schemas.openxmlformats.org/officeDocument/2006/relationships/image" Target="/ppt/media/image7.png" Id="Rb8ae85c6bddc4d90" /><Relationship Type="http://schemas.openxmlformats.org/officeDocument/2006/relationships/notesSlide" Target="/ppt/notesSlides/notesSlide8.xml" Id="Re1c6d1f47bcd49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18c53f7b34126" /><Relationship Type="http://schemas.openxmlformats.org/officeDocument/2006/relationships/image" Target="/ppt/media/image8.png" Id="R5f1294bc0ca04298" /><Relationship Type="http://schemas.openxmlformats.org/officeDocument/2006/relationships/notesSlide" Target="/ppt/notesSlides/notesSlide9.xml" Id="R10dc15a71f7a41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e35c4e75348d2" /><Relationship Type="http://schemas.openxmlformats.org/officeDocument/2006/relationships/image" Target="/ppt/media/image9.png" Id="R68084f40cc2745a2" /><Relationship Type="http://schemas.openxmlformats.org/officeDocument/2006/relationships/notesSlide" Target="/ppt/notesSlides/notesSlide10.xml" Id="R8a6ce86da0084d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ade4b50314be2" /><Relationship Type="http://schemas.openxmlformats.org/officeDocument/2006/relationships/image" Target="/ppt/media/image10.png" Id="Rd3fdde14b8964b27" /><Relationship Type="http://schemas.openxmlformats.org/officeDocument/2006/relationships/notesSlide" Target="/ppt/notesSlides/notesSlide11.xml" Id="R401bebbc0f1844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c0c60455e4358" /><Relationship Type="http://schemas.openxmlformats.org/officeDocument/2006/relationships/image" Target="/ppt/media/image11.png" Id="Rf79560808ecf4a7d" /><Relationship Type="http://schemas.openxmlformats.org/officeDocument/2006/relationships/notesSlide" Target="/ppt/notesSlides/notesSlide12.xml" Id="R839414699b934f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4dcab39fd4248" /><Relationship Type="http://schemas.openxmlformats.org/officeDocument/2006/relationships/notesSlide" Target="/ppt/notesSlides/notesSlide13.xml" Id="R6da0a8ac3f5a4fe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a787971b7463d" /><Relationship Type="http://schemas.openxmlformats.org/officeDocument/2006/relationships/notesSlide" Target="/ppt/notesSlides/notesSlide14.xml" Id="R3b136e699fc94b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4a86a8fd64548" /><Relationship Type="http://schemas.openxmlformats.org/officeDocument/2006/relationships/notesSlide" Target="/ppt/notesSlides/notesSlide15.xml" Id="R0db4432858bd46e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2f9ab12714fda" /><Relationship Type="http://schemas.openxmlformats.org/officeDocument/2006/relationships/notesSlide" Target="/ppt/notesSlides/notesSlide16.xml" Id="R68a6d4b0cb1349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7B61B-AEF3-4E37-A16A-01CF1D86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31F40-28CD-48B6-8873-1062E8BD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954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DCBF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FF9AD-541D-4272-8EE5-176504A4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3143250" cy="3143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0BBAF-E0DD-4721-9C61-0378F8AE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000250" cy="2000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AE30F-34ED-45BD-90C5-3ED79D2C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48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0BDA7-EF12-4E84-9735-D5BCA15A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04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FBE6D-B798-4E35-9D55-406C129B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292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DROP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4D87F-492E-4C72-BDAE-1A44A91A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E321B-325A-4818-B672-40B28DA0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6000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당첨의 순간을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전 세계 팬의 선물로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8C542-D17F-448B-B0E4-8FD8D08A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581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Twitch × OBS × Firebase × FastAPI × SodaGift 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17FBD-B1D3-4F1B-917A-03827577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57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Global Live Reward · Team 5</a:t>
            </a:r>
          </a:p>
        </p:txBody>
      </p:sp>
    </p:spTree>
    <p:extLst>
      <p:ext uri="{BB962C8B-B14F-4D97-AF65-F5344CB8AC3E}">
        <p14:creationId xmlns:p14="http://schemas.microsoft.com/office/powerpoint/2010/main" val="1377619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CC859-C8F4-4B31-86C9-1A75F486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1965594B-6A83-4B5C-8520-46B4A766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TEAM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040D8-B864-4490-91CF-44D5C946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24068-9352-43E4-A519-26E068D6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4A12F-998F-4527-95CF-4FA3CA9C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Dexter Kim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E6981-B336-4512-AA5D-AB83B966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9A6BD-EDE6-47CA-BEC5-A70A2209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495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73F20-D745-4783-8DD6-66F5C42A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52600"/>
            <a:ext cx="0" cy="3619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0B238-8974-4683-9984-7C0B377F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907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2182D-B5E5-4483-B27E-06E9A3D1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4320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Christian Lee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8A3CC-32F7-4F0D-9EBB-A73A2205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717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11603-D4A8-4394-A3A9-C5956165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289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6D1EC-8048-4FEA-82F6-46017614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7665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이창재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C4C07-0CB4-4D3C-8956-23139D75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099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66A498-DDDE-4B20-81EC-28784CD6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672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7DB6D-AFC9-46F7-BD51-212574A3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1010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최재원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52A9E-817D-412B-B6E5-FC8589E5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48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300759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0AD1BC-0FC0-41FA-B1CF-783C905A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D66279F6-5071-4199-9354-57DECE1B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선택한 이유는 글로벌·실시간·SodaGift였다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704AD-AAC0-4D74-980D-ECFFC3C2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563FC-2211-4011-BCFC-86593BD5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733550"/>
            <a:ext cx="3352800" cy="36957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37F45-6564-4367-B20C-373D6048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GLOBAL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5F05A-0DE3-4490-8C37-8746E6A7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국가 장벽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7DC22-1B2D-4525-A477-2B69BEA5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2819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전 세계 팬은 한 방송에 모이지만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상품·통화·사용 조건은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국가마다 다르다.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1EE74-E40E-4BE0-A29C-DDFCB2FE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1733550"/>
            <a:ext cx="3352800" cy="36957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3C1C5-F1FB-4EA6-88AD-F37B3C86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812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CBF4"/>
                </a:solidFill>
                <a:latin typeface="Apple SD Gothic Neo"/>
                <a:ea typeface="Apple SD Gothic Neo"/>
                <a:cs typeface="Apple SD Gothic Neo"/>
              </a:rPr>
              <a:t>LIVE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41CB1-549B-4EBA-AA63-A58CD02C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당첨 즉시성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AC72D-569A-4CC0-BBDB-1DA04681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24200"/>
            <a:ext cx="2819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라이브의 흥분이 식기 전에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당첨자가 바로 선물을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확인해야 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6B77D-3080-4243-9C05-26C60B66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7200" y="1733550"/>
            <a:ext cx="3352800" cy="36957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0661A-6BA1-41E6-8A0B-F9BA654B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SODAGIFT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52B1FB-1B7A-4F47-8841-045A1592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003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LINK 전달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49095-8002-4B32-99D6-EE38EEB9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24200"/>
            <a:ext cx="2819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배송·주소 수집 없이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국가에 맞는 SodaGift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수령 경험으로 연결한다.</a:t>
            </a:r>
          </a:p>
        </p:txBody>
      </p:sp>
    </p:spTree>
    <p:extLst>
      <p:ext uri="{BB962C8B-B14F-4D97-AF65-F5344CB8AC3E}">
        <p14:creationId xmlns:p14="http://schemas.microsoft.com/office/powerpoint/2010/main" val="6534836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F12E4B-B87B-4423-8D70-6434C1C6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FC4E55D1-3D1D-4650-B719-114E32DE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시스템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E406C-2E8C-47A6-98DD-E1AD575C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84CCC-6B5C-410D-B007-F5C987C2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67050"/>
            <a:ext cx="68580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E394E-B93B-4455-AA15-C9A0CF60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05050"/>
            <a:ext cx="45720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BB36C-70E5-4107-B62D-7D5E29D1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49530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3BBAC-DB98-4F52-A074-4C555E16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05050"/>
            <a:ext cx="45720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49D53-5645-49F7-85B5-67B69716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BD136-11AB-4044-A5FD-3EE3DF3B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2647950"/>
            <a:ext cx="2476500" cy="1352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4E8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E50B2-D3E8-4808-A7F8-62C35420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Streaming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8F2A8-B21B-41DB-95D3-9E470105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Twitch OAuth 2.0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OBS Browser 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BFEAE-ED03-4DEE-8F4F-D44F9988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2647950"/>
            <a:ext cx="2857500" cy="1352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59306-51FD-4750-BE10-88E493AC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19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E4219C-EE9E-45DC-B918-6882378E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194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66D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D9FF"/>
                </a:solidFill>
                <a:latin typeface="Apple SD Gothic Neo"/>
                <a:ea typeface="Apple SD Gothic Neo"/>
                <a:cs typeface="Apple SD Gothic Neo"/>
              </a:rPr>
              <a:t>Admin · Join · Result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66D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D9FF"/>
                </a:solidFill>
                <a:latin typeface="Apple SD Gothic Neo"/>
                <a:ea typeface="Apple SD Gothic Neo"/>
                <a:cs typeface="Apple SD Gothic Neo"/>
              </a:rPr>
              <a:t>Raffle + LINK orchestration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B42014-3637-42FB-BBB2-87765375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35255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E558D-0544-4093-8ED4-127A965F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24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Firebase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C57C8-F76C-483E-B38F-7DF1CC42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240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E7F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7F0FF"/>
                </a:solidFill>
                <a:latin typeface="Apple SD Gothic Neo"/>
                <a:ea typeface="Apple SD Gothic Neo"/>
                <a:cs typeface="Apple SD Gothic Neo"/>
              </a:rPr>
              <a:t>Hosting · Firestore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E7F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7F0FF"/>
                </a:solidFill>
                <a:latin typeface="Apple SD Gothic Neo"/>
                <a:ea typeface="Apple SD Gothic Neo"/>
                <a:cs typeface="Apple SD Gothic Neo"/>
              </a:rPr>
              <a:t>Realtime state store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F55440-29E0-496C-8784-50D4F7DF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2647950"/>
            <a:ext cx="2476500" cy="13525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C5D86"/>
          </a:solidFill>
          <a:ln xmlns:a="http://schemas.openxmlformats.org/drawingml/2006/main" w="9525">
            <a:solidFill>
              <a:srgbClr val="EC5D8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7D9DAD-BFB1-4E8B-8CC9-FB6AF661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19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SodaGift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BBAF9-8E48-4F18-8874-20870125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194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7E8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D7E8FF"/>
                </a:solidFill>
                <a:latin typeface="Apple SD Gothic Neo"/>
                <a:ea typeface="Apple SD Gothic Neo"/>
                <a:cs typeface="Apple SD Gothic Neo"/>
              </a:rPr>
              <a:t>LINK Order API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7E8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D7E8FF"/>
                </a:solidFill>
                <a:latin typeface="Apple SD Gothic Neo"/>
                <a:ea typeface="Apple SD Gothic Neo"/>
                <a:cs typeface="Apple SD Gothic Neo"/>
              </a:rPr>
              <a:t>상품 선택 · 주문 완료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A32067-C855-43B3-9B45-4AAC59A8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4324350"/>
            <a:ext cx="5238750" cy="838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FE0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D5AD21-8203-4BAE-9F63-81D73F81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D79E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D79E6"/>
                </a:solidFill>
                <a:latin typeface="Apple SD Gothic Neo"/>
                <a:ea typeface="Apple SD Gothic Neo"/>
                <a:cs typeface="Apple SD Gothic Neo"/>
              </a:rPr>
              <a:t>FIREBASE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4A85EE-5FAC-405D-A038-9F3B47D6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405A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05A78"/>
                </a:solidFill>
                <a:latin typeface="Apple SD Gothic Neo"/>
                <a:ea typeface="Apple SD Gothic Neo"/>
                <a:cs typeface="Apple SD Gothic Neo"/>
              </a:rPr>
              <a:t>participant · country · winner · 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BE5EF6-0F25-4C9C-A72F-EB85DDC0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4324350"/>
            <a:ext cx="5257800" cy="838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9C20F0-B637-44A0-B7F3-29532C9C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57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STREAMDROP GIFT 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4DFA4C-19BE-4FBE-AC78-8C568F5E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62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9D6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9D6FF"/>
                </a:solidFill>
                <a:latin typeface="Apple SD Gothic Neo"/>
                <a:ea typeface="Apple SD Gothic Neo"/>
                <a:cs typeface="Apple SD Gothic Neo"/>
              </a:rPr>
              <a:t>POST /orders (LINK) → recipientUrl → Twitch whisper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94D074-798A-4EA2-BAC3-CB695FB7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049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FLOW  ① Start  →  ② QR  →  ③ Join  →  ④ Raffle  →  ⑤ Winner  →  ⑥ SodaGift LINK</a:t>
            </a:r>
          </a:p>
        </p:txBody>
      </p:sp>
    </p:spTree>
    <p:extLst>
      <p:ext uri="{BB962C8B-B14F-4D97-AF65-F5344CB8AC3E}">
        <p14:creationId xmlns:p14="http://schemas.microsoft.com/office/powerpoint/2010/main" val="907972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4E308F-A22D-4CA9-909C-261A29C7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0FC443DD-B338-4BBE-8625-36E3C663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99583-F8C3-4EBE-A453-C1239172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F146D-A533-4ABF-A9A3-9EAC9649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695450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BAF41-6747-4E56-884F-78A62D69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4B587-B0E7-4563-8A88-3E711678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47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92A7F-7F7D-48BC-9BD3-247D219D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47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E8AD8-B747-4664-9D31-8DDCAAD8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209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55C57-85D5-43F7-B551-4D7D66E8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0264D-DED6-4E51-9484-B702AF24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45E9E-709E-40F4-88E7-3CEF0DEF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D0E91-DCEC-4FF6-BE2F-13925C6B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895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A56A5-86BD-422D-9CDA-35765C50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6B064-251E-40A4-A5B7-BC83788A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861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7538B-0566-4A4D-9226-1A5DF3C6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86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CD8F0-A03F-44A0-BCE5-2C5BB5F0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35814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A0390-B461-4C07-A32D-0135F88B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7F589-BB39-45D4-A625-F82F6031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F65F9-02F5-4EA2-971A-0B1E57C6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67A7EB-ABCA-4A21-BE47-B18804F8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2672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CA309-BB4C-4C8F-B2D6-7A543C6D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1023A-D2D4-4504-BA15-B721A638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577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17DC27-C128-4D0B-A07A-7C46F14A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F70AB5-9B50-4FE4-A1C8-66B37E3C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9530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F98DF4-0127-4399-8211-DAA4A9F6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F5604F-3F81-409C-A638-BE831D4B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43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542922-440C-4440-B4BB-74FE15FC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43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9" name="stage-5-title">
            <a:extLst xmlns:a="http://schemas.openxmlformats.org/drawingml/2006/main">
              <a:ext uri="{FF2B5EF4-FFF2-40B4-BE49-F238E27FC236}">
                <a16:creationId xmlns:a16="http://schemas.microsoft.com/office/drawing/2014/main" id="{B031B6D9-A9E4-4BFF-9F2C-1D457985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01 · 이벤트 시작</a:t>
            </a:r>
          </a:p>
        </p:txBody>
      </p:sp>
      <p:sp>
        <p:nvSpPr>
          <p:cNvPr id="30" name="stage-5-subtitle">
            <a:extLst xmlns:a="http://schemas.openxmlformats.org/drawingml/2006/main">
              <a:ext uri="{FF2B5EF4-FFF2-40B4-BE49-F238E27FC236}">
                <a16:creationId xmlns:a16="http://schemas.microsoft.com/office/drawing/2014/main" id="{603143B1-80B7-4812-BCA1-7DCEE138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진행 주체  운영자  ·  Admin에서 이벤트를 시작하고 OBS에 QR을 노출</a:t>
            </a:r>
          </a:p>
        </p:txBody>
      </p:sp>
      <p:sp>
        <p:nvSpPr>
          <p:cNvPr id="31" name="stage-5-page">
            <a:extLst xmlns:a="http://schemas.openxmlformats.org/drawingml/2006/main">
              <a:ext uri="{FF2B5EF4-FFF2-40B4-BE49-F238E27FC236}">
                <a16:creationId xmlns:a16="http://schemas.microsoft.com/office/drawing/2014/main" id="{758C6B97-DB2B-4F58-BD23-3C3C34A3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8A2B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98A2B3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32" name="event-start-admin-frame">
            <a:extLst xmlns:a="http://schemas.openxmlformats.org/drawingml/2006/main">
              <a:ext uri="{FF2B5EF4-FFF2-40B4-BE49-F238E27FC236}">
                <a16:creationId xmlns:a16="http://schemas.microsoft.com/office/drawing/2014/main" id="{308BBD39-2BF7-4DA6-9FE2-AD29B978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16edd9c794f23"/>
          <a:stretch xmlns:a="http://schemas.openxmlformats.org/drawingml/2006/main"/>
        </p:blipFill>
        <p:spPr>
          <a:xfrm xmlns:a="http://schemas.openxmlformats.org/drawingml/2006/main">
            <a:off x="1506881" y="1828800"/>
            <a:ext cx="9178239" cy="3848100"/>
          </a:xfrm>
          <a:prstGeom xmlns:a="http://schemas.openxmlformats.org/drawingml/2006/main" prst="rect">
            <a:avLst/>
          </a:prstGeom>
        </p:spPr>
      </p:pic>
      <p:sp>
        <p:nvSpPr>
          <p:cNvPr id="34" name="event-start-caption">
            <a:extLst xmlns:a="http://schemas.openxmlformats.org/drawingml/2006/main">
              <a:ext uri="{FF2B5EF4-FFF2-40B4-BE49-F238E27FC236}">
                <a16:creationId xmlns:a16="http://schemas.microsoft.com/office/drawing/2014/main" id="{D8A36531-2E06-4A3F-9FDA-034D6BA1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운영자 콘솔에서 이벤트를 시작하면 OBS 오버레이의 QR이 활성화됩니다.</a:t>
            </a:r>
          </a:p>
        </p:txBody>
      </p:sp>
    </p:spTree>
    <p:extLst>
      <p:ext uri="{BB962C8B-B14F-4D97-AF65-F5344CB8AC3E}">
        <p14:creationId xmlns:p14="http://schemas.microsoft.com/office/powerpoint/2010/main" val="18948148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4E308F-A22D-4CA9-909C-261A29C7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0FC443DD-B338-4BBE-8625-36E3C663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99583-F8C3-4EBE-A453-C1239172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F146D-A533-4ABF-A9A3-9EAC9649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695450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BAF41-6747-4E56-884F-78A62D69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4B587-B0E7-4563-8A88-3E711678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47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92A7F-7F7D-48BC-9BD3-247D219D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47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E8AD8-B747-4664-9D31-8DDCAAD8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209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55C57-85D5-43F7-B551-4D7D66E8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0264D-DED6-4E51-9484-B702AF24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45E9E-709E-40F4-88E7-3CEF0DEF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D0E91-DCEC-4FF6-BE2F-13925C6B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895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A56A5-86BD-422D-9CDA-35765C50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6B064-251E-40A4-A5B7-BC83788A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861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7538B-0566-4A4D-9226-1A5DF3C6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86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CD8F0-A03F-44A0-BCE5-2C5BB5F0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35814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A0390-B461-4C07-A32D-0135F88B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7F589-BB39-45D4-A625-F82F6031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F65F9-02F5-4EA2-971A-0B1E57C6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67A7EB-ABCA-4A21-BE47-B18804F8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2672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CA309-BB4C-4C8F-B2D6-7A543C6D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1023A-D2D4-4504-BA15-B721A638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577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17DC27-C128-4D0B-A07A-7C46F14A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F70AB5-9B50-4FE4-A1C8-66B37E3C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9530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F98DF4-0127-4399-8211-DAA4A9F6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F5604F-3F81-409C-A638-BE831D4B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43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542922-440C-4440-B4BB-74FE15FC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43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9" name="stage-6-title">
            <a:extLst xmlns:a="http://schemas.openxmlformats.org/drawingml/2006/main">
              <a:ext uri="{FF2B5EF4-FFF2-40B4-BE49-F238E27FC236}">
                <a16:creationId xmlns:a16="http://schemas.microsoft.com/office/drawing/2014/main" id="{0B836AFA-0827-49F9-8955-5BE36031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02 · 참여 등록</a:t>
            </a:r>
          </a:p>
        </p:txBody>
      </p:sp>
      <p:sp>
        <p:nvSpPr>
          <p:cNvPr id="30" name="stage-6-subtitle">
            <a:extLst xmlns:a="http://schemas.openxmlformats.org/drawingml/2006/main">
              <a:ext uri="{FF2B5EF4-FFF2-40B4-BE49-F238E27FC236}">
                <a16:creationId xmlns:a16="http://schemas.microsoft.com/office/drawing/2014/main" id="{664193C9-9D1E-4403-A2B5-FB76924B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진행 주체  참가자  ·  QR 스캔 후 Twitch 로그인과 국가 선택</a:t>
            </a:r>
          </a:p>
        </p:txBody>
      </p:sp>
      <p:sp>
        <p:nvSpPr>
          <p:cNvPr id="31" name="stage-6-page">
            <a:extLst xmlns:a="http://schemas.openxmlformats.org/drawingml/2006/main">
              <a:ext uri="{FF2B5EF4-FFF2-40B4-BE49-F238E27FC236}">
                <a16:creationId xmlns:a16="http://schemas.microsoft.com/office/drawing/2014/main" id="{5C429E71-8088-4797-A1E7-F01417CF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8A2B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98A2B3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32" name="registration-overlay-frame">
            <a:extLst xmlns:a="http://schemas.openxmlformats.org/drawingml/2006/main">
              <a:ext uri="{FF2B5EF4-FFF2-40B4-BE49-F238E27FC236}">
                <a16:creationId xmlns:a16="http://schemas.microsoft.com/office/drawing/2014/main" id="{15C4972C-126D-4793-B08A-9A8D6EB4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95450"/>
            <a:ext cx="8229600" cy="445770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70077a42745f2"/>
          <a:stretch xmlns:a="http://schemas.openxmlformats.org/drawingml/2006/main"/>
        </p:blipFill>
        <p:spPr>
          <a:xfrm xmlns:a="http://schemas.openxmlformats.org/drawingml/2006/main">
            <a:off x="2856903" y="1771650"/>
            <a:ext cx="6478194" cy="430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148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4E308F-A22D-4CA9-909C-261A29C7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0FC443DD-B338-4BBE-8625-36E3C663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99583-F8C3-4EBE-A453-C1239172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F146D-A533-4ABF-A9A3-9EAC9649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695450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BAF41-6747-4E56-884F-78A62D69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4B587-B0E7-4563-8A88-3E711678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47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92A7F-7F7D-48BC-9BD3-247D219D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47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E8AD8-B747-4664-9D31-8DDCAAD8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209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55C57-85D5-43F7-B551-4D7D66E8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0264D-DED6-4E51-9484-B702AF24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45E9E-709E-40F4-88E7-3CEF0DEF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D0E91-DCEC-4FF6-BE2F-13925C6B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895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A56A5-86BD-422D-9CDA-35765C50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6B064-251E-40A4-A5B7-BC83788A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861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7538B-0566-4A4D-9226-1A5DF3C6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86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CD8F0-A03F-44A0-BCE5-2C5BB5F0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35814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A0390-B461-4C07-A32D-0135F88B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7F589-BB39-45D4-A625-F82F6031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F65F9-02F5-4EA2-971A-0B1E57C6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67A7EB-ABCA-4A21-BE47-B18804F8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2672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CA309-BB4C-4C8F-B2D6-7A543C6D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1023A-D2D4-4504-BA15-B721A638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577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17DC27-C128-4D0B-A07A-7C46F14A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F70AB5-9B50-4FE4-A1C8-66B37E3C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9530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F98DF4-0127-4399-8211-DAA4A9F6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F5604F-3F81-409C-A638-BE831D4B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43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542922-440C-4440-B4BB-74FE15FC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43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9" name="stage-7-title">
            <a:extLst xmlns:a="http://schemas.openxmlformats.org/drawingml/2006/main">
              <a:ext uri="{FF2B5EF4-FFF2-40B4-BE49-F238E27FC236}">
                <a16:creationId xmlns:a16="http://schemas.microsoft.com/office/drawing/2014/main" id="{BCA8E5EE-66B5-48CF-BDEF-D0D48627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03 · 참가 확인</a:t>
            </a:r>
          </a:p>
        </p:txBody>
      </p:sp>
      <p:sp>
        <p:nvSpPr>
          <p:cNvPr id="30" name="stage-7-subtitle">
            <a:extLst xmlns:a="http://schemas.openxmlformats.org/drawingml/2006/main">
              <a:ext uri="{FF2B5EF4-FFF2-40B4-BE49-F238E27FC236}">
                <a16:creationId xmlns:a16="http://schemas.microsoft.com/office/drawing/2014/main" id="{321F9CED-D960-479C-A9E7-6815FADB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진행 주체  참가자 → 운영자  ·  참여 완료 후 Firestore 반영 상태 확인</a:t>
            </a:r>
          </a:p>
        </p:txBody>
      </p:sp>
      <p:sp>
        <p:nvSpPr>
          <p:cNvPr id="31" name="stage-7-page">
            <a:extLst xmlns:a="http://schemas.openxmlformats.org/drawingml/2006/main">
              <a:ext uri="{FF2B5EF4-FFF2-40B4-BE49-F238E27FC236}">
                <a16:creationId xmlns:a16="http://schemas.microsoft.com/office/drawing/2014/main" id="{A93D3C0A-212A-448C-9878-7761E1DF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8A2B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98A2B3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32" name="confirmation-admin-label">
            <a:extLst xmlns:a="http://schemas.openxmlformats.org/drawingml/2006/main">
              <a:ext uri="{FF2B5EF4-FFF2-40B4-BE49-F238E27FC236}">
                <a16:creationId xmlns:a16="http://schemas.microsoft.com/office/drawing/2014/main" id="{259D684F-DB7D-446F-95E1-45718565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참여 접수 · 운영자 화면</a:t>
            </a:r>
          </a:p>
        </p:txBody>
      </p:sp>
      <p:sp>
        <p:nvSpPr>
          <p:cNvPr id="33" name="confirmation-mobile-label">
            <a:extLst xmlns:a="http://schemas.openxmlformats.org/drawingml/2006/main">
              <a:ext uri="{FF2B5EF4-FFF2-40B4-BE49-F238E27FC236}">
                <a16:creationId xmlns:a16="http://schemas.microsoft.com/office/drawing/2014/main" id="{A48D8303-ED40-4A9C-ACD6-AA18491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57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참여 완료 · 참가자 화면</a:t>
            </a:r>
          </a:p>
        </p:txBody>
      </p:sp>
      <p:sp>
        <p:nvSpPr>
          <p:cNvPr id="34" name="confirmation-admin-frame">
            <a:extLst xmlns:a="http://schemas.openxmlformats.org/drawingml/2006/main">
              <a:ext uri="{FF2B5EF4-FFF2-40B4-BE49-F238E27FC236}">
                <a16:creationId xmlns:a16="http://schemas.microsoft.com/office/drawing/2014/main" id="{149295DE-BF56-489F-8624-22FC3436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533400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5b81c5fc6417a"/>
          <a:stretch xmlns:a="http://schemas.openxmlformats.org/drawingml/2006/main"/>
        </p:blipFill>
        <p:spPr>
          <a:xfrm xmlns:a="http://schemas.openxmlformats.org/drawingml/2006/main">
            <a:off x="533400" y="2596392"/>
            <a:ext cx="5181600" cy="2331967"/>
          </a:xfrm>
          <a:prstGeom xmlns:a="http://schemas.openxmlformats.org/drawingml/2006/main" prst="rect">
            <a:avLst/>
          </a:prstGeom>
        </p:spPr>
      </p:pic>
      <p:sp>
        <p:nvSpPr>
          <p:cNvPr id="36" name="confirmation-mobile-frame">
            <a:extLst xmlns:a="http://schemas.openxmlformats.org/drawingml/2006/main">
              <a:ext uri="{FF2B5EF4-FFF2-40B4-BE49-F238E27FC236}">
                <a16:creationId xmlns:a16="http://schemas.microsoft.com/office/drawing/2014/main" id="{7ABC6AF9-15A1-4831-83E1-7CC312E7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81200"/>
            <a:ext cx="533400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53b8a23454436"/>
          <a:stretch xmlns:a="http://schemas.openxmlformats.org/drawingml/2006/main"/>
        </p:blipFill>
        <p:spPr>
          <a:xfrm xmlns:a="http://schemas.openxmlformats.org/drawingml/2006/main">
            <a:off x="6993350" y="2057400"/>
            <a:ext cx="4148901" cy="3409950"/>
          </a:xfrm>
          <a:prstGeom xmlns:a="http://schemas.openxmlformats.org/drawingml/2006/main" prst="rect">
            <a:avLst/>
          </a:prstGeom>
        </p:spPr>
      </p:pic>
      <p:sp>
        <p:nvSpPr>
          <p:cNvPr id="38" name="confirmation-caption">
            <a:extLst xmlns:a="http://schemas.openxmlformats.org/drawingml/2006/main">
              <a:ext uri="{FF2B5EF4-FFF2-40B4-BE49-F238E27FC236}">
                <a16:creationId xmlns:a16="http://schemas.microsoft.com/office/drawing/2014/main" id="{57AC2624-7C27-49AC-891F-C1AC3BED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참가자 등록 정보가 Firestore를 통해 운영자 콘솔에 실시간 반영됩니다.</a:t>
            </a:r>
          </a:p>
        </p:txBody>
      </p:sp>
    </p:spTree>
    <p:extLst>
      <p:ext uri="{BB962C8B-B14F-4D97-AF65-F5344CB8AC3E}">
        <p14:creationId xmlns:p14="http://schemas.microsoft.com/office/powerpoint/2010/main" val="18948148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4E308F-A22D-4CA9-909C-261A29C7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0FC443DD-B338-4BBE-8625-36E3C663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99583-F8C3-4EBE-A453-C1239172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F146D-A533-4ABF-A9A3-9EAC9649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695450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BAF41-6747-4E56-884F-78A62D69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4B587-B0E7-4563-8A88-3E711678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47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92A7F-7F7D-48BC-9BD3-247D219D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47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E8AD8-B747-4664-9D31-8DDCAAD8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209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55C57-85D5-43F7-B551-4D7D66E8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0264D-DED6-4E51-9484-B702AF24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45E9E-709E-40F4-88E7-3CEF0DEF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D0E91-DCEC-4FF6-BE2F-13925C6B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895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A56A5-86BD-422D-9CDA-35765C50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6B064-251E-40A4-A5B7-BC83788A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861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7538B-0566-4A4D-9226-1A5DF3C6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86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CD8F0-A03F-44A0-BCE5-2C5BB5F0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35814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A0390-B461-4C07-A32D-0135F88B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7F589-BB39-45D4-A625-F82F6031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F65F9-02F5-4EA2-971A-0B1E57C6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67A7EB-ABCA-4A21-BE47-B18804F8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2672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CA309-BB4C-4C8F-B2D6-7A543C6D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1023A-D2D4-4504-BA15-B721A638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577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17DC27-C128-4D0B-A07A-7C46F14A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F70AB5-9B50-4FE4-A1C8-66B37E3C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9530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F98DF4-0127-4399-8211-DAA4A9F6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F5604F-3F81-409C-A638-BE831D4B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43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542922-440C-4440-B4BB-74FE15FC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43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9" name="stage-8-title">
            <a:extLst xmlns:a="http://schemas.openxmlformats.org/drawingml/2006/main">
              <a:ext uri="{FF2B5EF4-FFF2-40B4-BE49-F238E27FC236}">
                <a16:creationId xmlns:a16="http://schemas.microsoft.com/office/drawing/2014/main" id="{1D04C082-3990-448A-A90C-4B1BBB1B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04 · 추첨·발표</a:t>
            </a:r>
          </a:p>
        </p:txBody>
      </p:sp>
      <p:sp>
        <p:nvSpPr>
          <p:cNvPr id="30" name="stage-8-subtitle">
            <a:extLst xmlns:a="http://schemas.openxmlformats.org/drawingml/2006/main">
              <a:ext uri="{FF2B5EF4-FFF2-40B4-BE49-F238E27FC236}">
                <a16:creationId xmlns:a16="http://schemas.microsoft.com/office/drawing/2014/main" id="{7542E570-56F2-4F49-A46C-FD9D2057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진행 주체  운영자 → 참가자  ·  추첨 실행, OBS 발표, 휴대폰 결과 확인</a:t>
            </a:r>
          </a:p>
        </p:txBody>
      </p:sp>
      <p:sp>
        <p:nvSpPr>
          <p:cNvPr id="31" name="stage-8-page">
            <a:extLst xmlns:a="http://schemas.openxmlformats.org/drawingml/2006/main">
              <a:ext uri="{FF2B5EF4-FFF2-40B4-BE49-F238E27FC236}">
                <a16:creationId xmlns:a16="http://schemas.microsoft.com/office/drawing/2014/main" id="{2B76C1C8-E561-406B-915C-28B643F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8A2B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98A2B3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32" name="raffle-overlay-label">
            <a:extLst xmlns:a="http://schemas.openxmlformats.org/drawingml/2006/main">
              <a:ext uri="{FF2B5EF4-FFF2-40B4-BE49-F238E27FC236}">
                <a16:creationId xmlns:a16="http://schemas.microsoft.com/office/drawing/2014/main" id="{554FFFFF-06DF-42A5-AA7A-DCAE6CDF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OBS 오버레이 · 당첨자 발표</a:t>
            </a:r>
          </a:p>
        </p:txBody>
      </p:sp>
      <p:sp>
        <p:nvSpPr>
          <p:cNvPr id="33" name="raffle-admin-label">
            <a:extLst xmlns:a="http://schemas.openxmlformats.org/drawingml/2006/main">
              <a:ext uri="{FF2B5EF4-FFF2-40B4-BE49-F238E27FC236}">
                <a16:creationId xmlns:a16="http://schemas.microsoft.com/office/drawing/2014/main" id="{5B46CD76-AB46-47D9-8E61-F0577881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57350"/>
            <a:ext cx="430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운영자 콘솔 · 추첨 완료</a:t>
            </a:r>
          </a:p>
        </p:txBody>
      </p:sp>
      <p:sp>
        <p:nvSpPr>
          <p:cNvPr id="34" name="raffle-overlay-frame">
            <a:extLst xmlns:a="http://schemas.openxmlformats.org/drawingml/2006/main">
              <a:ext uri="{FF2B5EF4-FFF2-40B4-BE49-F238E27FC236}">
                <a16:creationId xmlns:a16="http://schemas.microsoft.com/office/drawing/2014/main" id="{CAC182FE-F5A7-49D4-A72A-59C895D8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666750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4bb95b72d4c0d"/>
          <a:stretch xmlns:a="http://schemas.openxmlformats.org/drawingml/2006/main"/>
        </p:blipFill>
        <p:spPr>
          <a:xfrm xmlns:a="http://schemas.openxmlformats.org/drawingml/2006/main">
            <a:off x="794921" y="2057400"/>
            <a:ext cx="5992057" cy="3695700"/>
          </a:xfrm>
          <a:prstGeom xmlns:a="http://schemas.openxmlformats.org/drawingml/2006/main" prst="rect">
            <a:avLst/>
          </a:prstGeom>
        </p:spPr>
      </p:pic>
      <p:sp>
        <p:nvSpPr>
          <p:cNvPr id="36" name="raffle-admin-frame">
            <a:extLst xmlns:a="http://schemas.openxmlformats.org/drawingml/2006/main">
              <a:ext uri="{FF2B5EF4-FFF2-40B4-BE49-F238E27FC236}">
                <a16:creationId xmlns:a16="http://schemas.microsoft.com/office/drawing/2014/main" id="{8A231D98-31A7-4D3B-A56F-0E037585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81200"/>
            <a:ext cx="43053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9993344994f85"/>
          <a:stretch xmlns:a="http://schemas.openxmlformats.org/drawingml/2006/main"/>
        </p:blipFill>
        <p:spPr>
          <a:xfrm xmlns:a="http://schemas.openxmlformats.org/drawingml/2006/main">
            <a:off x="8122649" y="2057400"/>
            <a:ext cx="2919002" cy="1638300"/>
          </a:xfrm>
          <a:prstGeom xmlns:a="http://schemas.openxmlformats.org/drawingml/2006/main" prst="rect">
            <a:avLst/>
          </a:prstGeom>
        </p:spPr>
      </p:pic>
      <p:sp>
        <p:nvSpPr>
          <p:cNvPr id="38" name="raffle-mobile-label">
            <a:extLst xmlns:a="http://schemas.openxmlformats.org/drawingml/2006/main">
              <a:ext uri="{FF2B5EF4-FFF2-40B4-BE49-F238E27FC236}">
                <a16:creationId xmlns:a16="http://schemas.microsoft.com/office/drawing/2014/main" id="{7E45A5A2-0F99-4492-B14D-41F50EAA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86200"/>
            <a:ext cx="430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당첨자 모바일 · 결과 확인</a:t>
            </a:r>
          </a:p>
        </p:txBody>
      </p:sp>
      <p:sp>
        <p:nvSpPr>
          <p:cNvPr id="39" name="raffle-mobile-frame">
            <a:extLst xmlns:a="http://schemas.openxmlformats.org/drawingml/2006/main">
              <a:ext uri="{FF2B5EF4-FFF2-40B4-BE49-F238E27FC236}">
                <a16:creationId xmlns:a16="http://schemas.microsoft.com/office/drawing/2014/main" id="{A5BE71A7-7448-4F00-BBF8-A57C7879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10050"/>
            <a:ext cx="43053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e85c6bddc4d90"/>
          <a:stretch xmlns:a="http://schemas.openxmlformats.org/drawingml/2006/main"/>
        </p:blipFill>
        <p:spPr>
          <a:xfrm xmlns:a="http://schemas.openxmlformats.org/drawingml/2006/main">
            <a:off x="8747423" y="4286250"/>
            <a:ext cx="1669454" cy="1466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148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4E308F-A22D-4CA9-909C-261A29C7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0FC443DD-B338-4BBE-8625-36E3C663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99583-F8C3-4EBE-A453-C1239172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F146D-A533-4ABF-A9A3-9EAC9649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695450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BAF41-6747-4E56-884F-78A62D69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4B587-B0E7-4563-8A88-3E711678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47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92A7F-7F7D-48BC-9BD3-247D219D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47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E8AD8-B747-4664-9D31-8DDCAAD8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209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55C57-85D5-43F7-B551-4D7D66E8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0264D-DED6-4E51-9484-B702AF24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45E9E-709E-40F4-88E7-3CEF0DEF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D0E91-DCEC-4FF6-BE2F-13925C6B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895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A56A5-86BD-422D-9CDA-35765C50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6B064-251E-40A4-A5B7-BC83788A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861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7538B-0566-4A4D-9226-1A5DF3C6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86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CD8F0-A03F-44A0-BCE5-2C5BB5F0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35814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A0390-B461-4C07-A32D-0135F88B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7F589-BB39-45D4-A625-F82F6031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F65F9-02F5-4EA2-971A-0B1E57C6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67A7EB-ABCA-4A21-BE47-B18804F8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2672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CA309-BB4C-4C8F-B2D6-7A543C6D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1023A-D2D4-4504-BA15-B721A638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577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17DC27-C128-4D0B-A07A-7C46F14A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F70AB5-9B50-4FE4-A1C8-66B37E3C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9530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F98DF4-0127-4399-8211-DAA4A9F6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F5604F-3F81-409C-A638-BE831D4B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43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542922-440C-4440-B4BB-74FE15FC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43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9" name="stage-9-title">
            <a:extLst xmlns:a="http://schemas.openxmlformats.org/drawingml/2006/main">
              <a:ext uri="{FF2B5EF4-FFF2-40B4-BE49-F238E27FC236}">
                <a16:creationId xmlns:a16="http://schemas.microsoft.com/office/drawing/2014/main" id="{4B95E904-D46E-4181-B08B-15FAE0AA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05 · StreamDrop 수령 화면</a:t>
            </a:r>
          </a:p>
        </p:txBody>
      </p:sp>
      <p:sp>
        <p:nvSpPr>
          <p:cNvPr id="30" name="stage-9-subtitle">
            <a:extLst xmlns:a="http://schemas.openxmlformats.org/drawingml/2006/main">
              <a:ext uri="{FF2B5EF4-FFF2-40B4-BE49-F238E27FC236}">
                <a16:creationId xmlns:a16="http://schemas.microsoft.com/office/drawing/2014/main" id="{910C7323-6358-46F4-A3FD-F3039289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진행 주체  당첨자  ·  선물 받기 버튼과 SodaGift LINK 발급 안내를 확인</a:t>
            </a:r>
          </a:p>
        </p:txBody>
      </p:sp>
      <p:sp>
        <p:nvSpPr>
          <p:cNvPr id="31" name="stage-9-page">
            <a:extLst xmlns:a="http://schemas.openxmlformats.org/drawingml/2006/main">
              <a:ext uri="{FF2B5EF4-FFF2-40B4-BE49-F238E27FC236}">
                <a16:creationId xmlns:a16="http://schemas.microsoft.com/office/drawing/2014/main" id="{44427B19-2483-4912-89CE-678E8C5F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8A2B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98A2B3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32" name="gift-button-frame">
            <a:extLst xmlns:a="http://schemas.openxmlformats.org/drawingml/2006/main">
              <a:ext uri="{FF2B5EF4-FFF2-40B4-BE49-F238E27FC236}">
                <a16:creationId xmlns:a16="http://schemas.microsoft.com/office/drawing/2014/main" id="{5B682BCF-50BB-4891-AB32-788D275A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95450"/>
            <a:ext cx="7048500" cy="445770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294bc0ca04298"/>
          <a:stretch xmlns:a="http://schemas.openxmlformats.org/drawingml/2006/main"/>
        </p:blipFill>
        <p:spPr>
          <a:xfrm xmlns:a="http://schemas.openxmlformats.org/drawingml/2006/main">
            <a:off x="3316874" y="1771650"/>
            <a:ext cx="5558253" cy="430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148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4E308F-A22D-4CA9-909C-261A29C7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0FC443DD-B338-4BBE-8625-36E3C663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99583-F8C3-4EBE-A453-C1239172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F146D-A533-4ABF-A9A3-9EAC9649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695450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BAF41-6747-4E56-884F-78A62D69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4B587-B0E7-4563-8A88-3E711678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47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92A7F-7F7D-48BC-9BD3-247D219D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47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E8AD8-B747-4664-9D31-8DDCAAD8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209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55C57-85D5-43F7-B551-4D7D66E8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0264D-DED6-4E51-9484-B702AF24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45E9E-709E-40F4-88E7-3CEF0DEF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D0E91-DCEC-4FF6-BE2F-13925C6B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895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A56A5-86BD-422D-9CDA-35765C50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6B064-251E-40A4-A5B7-BC83788A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861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7538B-0566-4A4D-9226-1A5DF3C6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86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CD8F0-A03F-44A0-BCE5-2C5BB5F0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35814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A0390-B461-4C07-A32D-0135F88B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7F589-BB39-45D4-A625-F82F6031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F65F9-02F5-4EA2-971A-0B1E57C6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67A7EB-ABCA-4A21-BE47-B18804F8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2672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CA309-BB4C-4C8F-B2D6-7A543C6D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1023A-D2D4-4504-BA15-B721A638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577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17DC27-C128-4D0B-A07A-7C46F14A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F70AB5-9B50-4FE4-A1C8-66B37E3C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9530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F98DF4-0127-4399-8211-DAA4A9F6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F5604F-3F81-409C-A638-BE831D4B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43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542922-440C-4440-B4BB-74FE15FC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43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9" name="stage-10-title">
            <a:extLst xmlns:a="http://schemas.openxmlformats.org/drawingml/2006/main">
              <a:ext uri="{FF2B5EF4-FFF2-40B4-BE49-F238E27FC236}">
                <a16:creationId xmlns:a16="http://schemas.microsoft.com/office/drawing/2014/main" id="{94C8C59B-28F5-4EE7-914B-F47FF5E0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06 · SodaGift 리워드 확인</a:t>
            </a:r>
          </a:p>
        </p:txBody>
      </p:sp>
      <p:sp>
        <p:nvSpPr>
          <p:cNvPr id="30" name="stage-10-subtitle">
            <a:extLst xmlns:a="http://schemas.openxmlformats.org/drawingml/2006/main">
              <a:ext uri="{FF2B5EF4-FFF2-40B4-BE49-F238E27FC236}">
                <a16:creationId xmlns:a16="http://schemas.microsoft.com/office/drawing/2014/main" id="{4C34274A-BBF3-4E3E-AC80-D1A0C95A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진행 주체  당첨자  ·  SodaGift LINK에서 당첨 리워드를 확인</a:t>
            </a:r>
          </a:p>
        </p:txBody>
      </p:sp>
      <p:sp>
        <p:nvSpPr>
          <p:cNvPr id="31" name="stage-10-page">
            <a:extLst xmlns:a="http://schemas.openxmlformats.org/drawingml/2006/main">
              <a:ext uri="{FF2B5EF4-FFF2-40B4-BE49-F238E27FC236}">
                <a16:creationId xmlns:a16="http://schemas.microsoft.com/office/drawing/2014/main" id="{07C4615E-AE2B-462A-8DD6-F857FFD9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8A2B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98A2B3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32" name="gift-landing-frame">
            <a:extLst xmlns:a="http://schemas.openxmlformats.org/drawingml/2006/main">
              <a:ext uri="{FF2B5EF4-FFF2-40B4-BE49-F238E27FC236}">
                <a16:creationId xmlns:a16="http://schemas.microsoft.com/office/drawing/2014/main" id="{A4013188-4435-4AC9-8C9D-AB799BF7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1277600" cy="445770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84f40cc2745a2"/>
          <a:stretch xmlns:a="http://schemas.openxmlformats.org/drawingml/2006/main"/>
        </p:blipFill>
        <p:spPr>
          <a:xfrm xmlns:a="http://schemas.openxmlformats.org/drawingml/2006/main">
            <a:off x="2101336" y="1771650"/>
            <a:ext cx="7989329" cy="430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148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4E308F-A22D-4CA9-909C-261A29C7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0FC443DD-B338-4BBE-8625-36E3C663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99583-F8C3-4EBE-A453-C1239172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F146D-A533-4ABF-A9A3-9EAC9649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695450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BAF41-6747-4E56-884F-78A62D69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4B587-B0E7-4563-8A88-3E711678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47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92A7F-7F7D-48BC-9BD3-247D219D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47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E8AD8-B747-4664-9D31-8DDCAAD8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209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55C57-85D5-43F7-B551-4D7D66E8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0264D-DED6-4E51-9484-B702AF24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45E9E-709E-40F4-88E7-3CEF0DEF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D0E91-DCEC-4FF6-BE2F-13925C6B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895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A56A5-86BD-422D-9CDA-35765C50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6B064-251E-40A4-A5B7-BC83788A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861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7538B-0566-4A4D-9226-1A5DF3C6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86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CD8F0-A03F-44A0-BCE5-2C5BB5F0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35814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A0390-B461-4C07-A32D-0135F88B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7F589-BB39-45D4-A625-F82F6031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F65F9-02F5-4EA2-971A-0B1E57C6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67A7EB-ABCA-4A21-BE47-B18804F8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2672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CA309-BB4C-4C8F-B2D6-7A543C6D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1023A-D2D4-4504-BA15-B721A638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577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17DC27-C128-4D0B-A07A-7C46F14A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F70AB5-9B50-4FE4-A1C8-66B37E3C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9530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F98DF4-0127-4399-8211-DAA4A9F6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F5604F-3F81-409C-A638-BE831D4B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43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542922-440C-4440-B4BB-74FE15FC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43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9" name="stage-11-title">
            <a:extLst xmlns:a="http://schemas.openxmlformats.org/drawingml/2006/main">
              <a:ext uri="{FF2B5EF4-FFF2-40B4-BE49-F238E27FC236}">
                <a16:creationId xmlns:a16="http://schemas.microsoft.com/office/drawing/2014/main" id="{762CBC46-CD11-459D-96A3-C74DDAFE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07 · 상품 수령</a:t>
            </a:r>
          </a:p>
        </p:txBody>
      </p:sp>
      <p:sp>
        <p:nvSpPr>
          <p:cNvPr id="30" name="stage-11-subtitle">
            <a:extLst xmlns:a="http://schemas.openxmlformats.org/drawingml/2006/main">
              <a:ext uri="{FF2B5EF4-FFF2-40B4-BE49-F238E27FC236}">
                <a16:creationId xmlns:a16="http://schemas.microsoft.com/office/drawing/2014/main" id="{1FDE82DB-F397-46C0-B776-D764C5F3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진행 주체  당첨자  ·  선택한 상품의 바코드와 사용 정보를 확인</a:t>
            </a:r>
          </a:p>
        </p:txBody>
      </p:sp>
      <p:sp>
        <p:nvSpPr>
          <p:cNvPr id="31" name="stage-11-page">
            <a:extLst xmlns:a="http://schemas.openxmlformats.org/drawingml/2006/main">
              <a:ext uri="{FF2B5EF4-FFF2-40B4-BE49-F238E27FC236}">
                <a16:creationId xmlns:a16="http://schemas.microsoft.com/office/drawing/2014/main" id="{07512857-FEBF-459A-8E97-8159FCD1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8A2B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98A2B3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32" name="gift-barcode-frame">
            <a:extLst xmlns:a="http://schemas.openxmlformats.org/drawingml/2006/main">
              <a:ext uri="{FF2B5EF4-FFF2-40B4-BE49-F238E27FC236}">
                <a16:creationId xmlns:a16="http://schemas.microsoft.com/office/drawing/2014/main" id="{D5D3E367-CD24-4773-8538-BC952AF3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95450"/>
            <a:ext cx="7048500" cy="445770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dde14b8964b27"/>
          <a:stretch xmlns:a="http://schemas.openxmlformats.org/drawingml/2006/main"/>
        </p:blipFill>
        <p:spPr>
          <a:xfrm xmlns:a="http://schemas.openxmlformats.org/drawingml/2006/main">
            <a:off x="3362952" y="1771650"/>
            <a:ext cx="5466096" cy="430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148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4E308F-A22D-4CA9-909C-261A29C7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0FC443DD-B338-4BBE-8625-36E3C663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99583-F8C3-4EBE-A453-C1239172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F146D-A533-4ABF-A9A3-9EAC9649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695450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BAF41-6747-4E56-884F-78A62D69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4B587-B0E7-4563-8A88-3E711678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47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92A7F-7F7D-48BC-9BD3-247D219D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47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E8AD8-B747-4664-9D31-8DDCAAD8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209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55C57-85D5-43F7-B551-4D7D66E8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0264D-DED6-4E51-9484-B702AF24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45E9E-709E-40F4-88E7-3CEF0DEF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D0E91-DCEC-4FF6-BE2F-13925C6B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895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A56A5-86BD-422D-9CDA-35765C50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6B064-251E-40A4-A5B7-BC83788A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861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7538B-0566-4A4D-9226-1A5DF3C6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86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CD8F0-A03F-44A0-BCE5-2C5BB5F0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35814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A0390-B461-4C07-A32D-0135F88B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7F589-BB39-45D4-A625-F82F6031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F65F9-02F5-4EA2-971A-0B1E57C6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67A7EB-ABCA-4A21-BE47-B18804F8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2672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CA309-BB4C-4C8F-B2D6-7A543C6D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1023A-D2D4-4504-BA15-B721A638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577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17DC27-C128-4D0B-A07A-7C46F14A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F70AB5-9B50-4FE4-A1C8-66B37E3C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49530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F98DF4-0127-4399-8211-DAA4A9F6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F5604F-3F81-409C-A638-BE831D4B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43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542922-440C-4440-B4BB-74FE15FC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43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9" name="stage-12-title">
            <a:extLst xmlns:a="http://schemas.openxmlformats.org/drawingml/2006/main">
              <a:ext uri="{FF2B5EF4-FFF2-40B4-BE49-F238E27FC236}">
                <a16:creationId xmlns:a16="http://schemas.microsoft.com/office/drawing/2014/main" id="{14F2DE7A-1477-43F7-8B23-BF964830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08 · 낙첨자 AI 추천</a:t>
            </a:r>
          </a:p>
        </p:txBody>
      </p:sp>
      <p:sp>
        <p:nvSpPr>
          <p:cNvPr id="30" name="stage-12-subtitle">
            <a:extLst xmlns:a="http://schemas.openxmlformats.org/drawingml/2006/main">
              <a:ext uri="{FF2B5EF4-FFF2-40B4-BE49-F238E27FC236}">
                <a16:creationId xmlns:a16="http://schemas.microsoft.com/office/drawing/2014/main" id="{7403E05D-3AF6-46C1-80AE-FC9EB4B7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진행 주체  낙첨자  ·  Twitch 취향과 국가별 카탈로그를 반영한 Top 3 확인</a:t>
            </a:r>
          </a:p>
        </p:txBody>
      </p:sp>
      <p:sp>
        <p:nvSpPr>
          <p:cNvPr id="31" name="stage-12-page">
            <a:extLst xmlns:a="http://schemas.openxmlformats.org/drawingml/2006/main">
              <a:ext uri="{FF2B5EF4-FFF2-40B4-BE49-F238E27FC236}">
                <a16:creationId xmlns:a16="http://schemas.microsoft.com/office/drawing/2014/main" id="{83E80D8F-8355-4119-8062-F405DD14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8A2B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>
                <a:solidFill>
                  <a:srgbClr val="98A2B3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32" name="loser-ai-recommendation-frame">
            <a:extLst xmlns:a="http://schemas.openxmlformats.org/drawingml/2006/main">
              <a:ext uri="{FF2B5EF4-FFF2-40B4-BE49-F238E27FC236}">
                <a16:creationId xmlns:a16="http://schemas.microsoft.com/office/drawing/2014/main" id="{2DCB68B2-99AF-4884-8DA1-B749FCB2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95450"/>
            <a:ext cx="8229600" cy="445770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560808ecf4a7d"/>
          <a:stretch xmlns:a="http://schemas.openxmlformats.org/drawingml/2006/main"/>
        </p:blipFill>
        <p:spPr>
          <a:xfrm xmlns:a="http://schemas.openxmlformats.org/drawingml/2006/main">
            <a:off x="2943809" y="1771650"/>
            <a:ext cx="6304382" cy="430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148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7B61B-AEF3-4E37-A16A-01CF1D86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31F40-28CD-48B6-8873-1062E8BD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954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DCBF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FF9AD-541D-4272-8EE5-176504A4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3143250" cy="3143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0BBAF-E0DD-4721-9C61-0378F8AE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000250" cy="2000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AE30F-34ED-45BD-90C5-3ED79D2C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48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0BDA7-EF12-4E84-9735-D5BCA15A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04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FBE6D-B798-4E35-9D55-406C129B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292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DROP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4D87F-492E-4C72-BDAE-1A44A91A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954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LIVE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E321B-325A-4818-B672-40B28DA0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6000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지금부터 실제 흐름을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직접 보여드리겠습니다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8C542-D17F-448B-B0E4-8FD8D08A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581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Twitch 로그인 → 이벤트 참여 → 추첨 → SodaGift 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17FBD-B1D3-4F1B-917A-03827577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57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StreamDrop · Team 5</a:t>
            </a:r>
          </a:p>
        </p:txBody>
      </p:sp>
    </p:spTree>
    <p:extLst>
      <p:ext uri="{BB962C8B-B14F-4D97-AF65-F5344CB8AC3E}">
        <p14:creationId xmlns:p14="http://schemas.microsoft.com/office/powerpoint/2010/main" val="13776194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F615A8-EAB6-4FDE-8DD0-9558B54B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24CB5A32-4795-49FA-A4B7-38DD172B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Twitch 한계는 우회하고, AI 추천으로 다음 기회를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B8FE8-EB6F-40FE-9F30-F0C591AB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BCEAF-FF93-46AE-B409-D1DC9C67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4355A-7F3F-4C97-8766-FEABAC17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0CFB8-CDCA-4DBF-B289-5C219686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440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204 응답 ≠ 실제 수신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7A070-39DB-46A3-83A7-A62124B0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5E4D2-A12E-4344-8D91-A91522FC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40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외부 LINK는 silent drop 가능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5A653-1373-49C9-9513-5C027A5D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09078-3E9B-4665-8C42-A667DE48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440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배달 확인 API가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392E0-8605-4647-A0D1-4B584DD8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9525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22013-BF92-41B3-98B7-FD496166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40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0EC24-B820-436F-9256-BB8DF104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9525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DB12A-BEF5-49F0-A358-8F1B17D2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40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58FE1-BA90-41E0-89B1-FFAB1C49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C45519-3AD7-479D-B656-B3A46C38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AI NEXT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9152B-70F4-48A0-8E92-67FFAC61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19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40808-5738-4C30-8269-7AC257B9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4315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팔로우 채널·국가를 분석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A3A958-88D5-4810-9760-F5DFFFBE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7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C17961-F2C6-4A2C-8B11-1D30E1A3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9560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Claude로 상품 Top 3 추천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42C06D-669B-4488-916E-7660514B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52A182-6C43-4716-BA77-C0498933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4805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낙첨자를 후속 구매로 전환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9C1553-8B42-4AC6-83FC-64D09BBB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76700"/>
            <a:ext cx="9525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4FB4A4-4454-4656-B90E-6F9C08DF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0050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D01789-2B99-41CC-BA8E-D341C92C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29150"/>
            <a:ext cx="9525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D896A3-8B7D-4129-8029-87959065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5295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B92413-BFAF-45E3-802D-E90A0A1D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귓속말은 보조 경로, AI 추천은 다음 구매 기회로 연결한다.</a:t>
            </a:r>
          </a:p>
        </p:txBody>
      </p:sp>
    </p:spTree>
    <p:extLst>
      <p:ext uri="{BB962C8B-B14F-4D97-AF65-F5344CB8AC3E}">
        <p14:creationId xmlns:p14="http://schemas.microsoft.com/office/powerpoint/2010/main" val="10217173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5852E2-756D-44C5-B2D1-38E242A3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2E771DDC-5D8A-4698-816A-6925E8CD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라이브 이벤트와 AI 추천이 SodaGift의 반복 주문을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D5CC4-9866-4962-B4B6-3818C58E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9A56A-C083-4E93-924E-1B707C49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2000250"/>
            <a:ext cx="2266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F5F7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9ABD1-3F45-4960-B18E-1A6A0F89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브랜드·주최자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E6087-EEF1-4E80-81EA-D907080D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당첨 전 · 캠페인 준비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D9816-7867-4F4E-BDF8-0A7C94F8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193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98A2B3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7487E-4C29-4C4E-8BD7-0FE986E6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2800" y="2000250"/>
            <a:ext cx="2266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9EEF5"/>
          </a:solidFill>
          <a:ln xmlns:a="http://schemas.openxmlformats.org/drawingml/2006/main" w="0">
            <a:solidFill>
              <a:srgbClr val="E9EE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D5281-D1C0-4BFA-98EE-6D940BFF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6695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방송 스트리밍 (Twitch)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1EC9C-408A-4DF9-8B2A-5A249A38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당첨 전 · 실시간 참여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12E11-8689-449C-A138-F9FE1B5F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193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C36965-B2AD-4E75-B1FD-6B1358D2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000250"/>
            <a:ext cx="2266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2F9BE-C519-41F1-A72B-D81F9FE6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5DD6A-1459-423B-9895-C2A0C022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당첨 순간 · 추첨 확정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1F0AE-5020-432D-B2EB-A0A538DE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193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1FBF9-09D7-4EC0-B3CF-D043D88B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7800" y="2000250"/>
            <a:ext cx="2266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5D86"/>
          </a:solidFill>
          <a:ln xmlns:a="http://schemas.openxmlformats.org/drawingml/2006/main" w="0">
            <a:solidFill>
              <a:srgbClr val="EC5D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836E9-E168-4192-8926-A25363D4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6695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SodaGift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A60E62-D4CB-4002-91B7-B8BA7C33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D7E8FF"/>
                </a:solidFill>
                <a:latin typeface="Apple SD Gothic Neo"/>
                <a:ea typeface="Apple SD Gothic Neo"/>
                <a:cs typeface="Apple SD Gothic Neo"/>
              </a:rPr>
              <a:t>당첨 후 · LINK 발급·수령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1BEF1C-40AE-4DF7-B8FE-CB00327B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8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시장 가치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FBB04B-28F0-4AFD-8A9D-D425C14E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글로벌 팬 참여를 국경 없는 구매 여정으로 전환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0F49F6-279C-49DC-A546-893406AC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K-CON·게임 출시·팬미팅·스포츠 라이브로 확장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참여·국가·상품 데이터를 재구매 자산으로 축적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86B842-3E23-4384-9738-C301F150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6715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DC584-6E95-41BE-8D30-2B62DCFC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48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수익 창출 기대효과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74EE57-CA26-46AD-9719-6D76728B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481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캠페인 운영 이용료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경품·후속 주문 수수료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AI 추천으로 반복 구매·고객가치(LTV) 확대</a:t>
            </a:r>
          </a:p>
        </p:txBody>
      </p:sp>
    </p:spTree>
    <p:extLst>
      <p:ext uri="{BB962C8B-B14F-4D97-AF65-F5344CB8AC3E}">
        <p14:creationId xmlns:p14="http://schemas.microsoft.com/office/powerpoint/2010/main" val="19145036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A3702-63BE-47E6-BF32-898DF300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</a:t>
            </a:r>
          </a:p>
        </p:txBody>
      </p:sp>
      <p:sp>
        <p:nvSpPr>
          <p:cNvPr id="2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0425055D-11B1-4B87-8471-D48F2450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Q&amp;A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38977-11E4-4E80-88C0-005846B2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F7680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746E8-F187-418B-8771-92762AFF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676400"/>
            <a:ext cx="112776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solidFill>
              <a:srgbClr val="0A0A0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4B4E0-3281-487B-86B2-B51AA424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“당첨의 순간을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 세계 팬의 선물로 연결합니다.”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D0404-8FB8-44E4-99B8-58331D82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5725D-8B93-4F0A-87DE-EC000B40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Twitch·OBS로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실시간 참여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A8A56-F282-4068-AC6A-8F7E62E1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188E0-1054-4BFC-BB41-055FC7B5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053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국가 선택으로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글로벌 지급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2758C-11EA-441A-B06C-14E4EC83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F0E4F-FEC4-48FB-8523-86E2F55E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053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당첨자 승인 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개인 LINK 발급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36E79-6EF6-4EEB-B6A7-B3159F25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75BB7-E843-4808-8066-79110667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053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반복 이벤트가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A0A0A"/>
                </a:solidFill>
                <a:latin typeface="Apple SD Gothic Neo"/>
                <a:ea typeface="Apple SD Gothic Neo"/>
                <a:cs typeface="Apple SD Gothic Neo"/>
              </a:rPr>
              <a:t>SodaGift 주문으로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D0C1CB-4B82-419C-8918-32D48A1B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959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StreamDrop × SodaGift — 글로벌 팬 리워드의 가장 짧은 경로</a:t>
            </a:r>
          </a:p>
        </p:txBody>
      </p:sp>
    </p:spTree>
    <p:extLst>
      <p:ext uri="{BB962C8B-B14F-4D97-AF65-F5344CB8AC3E}">
        <p14:creationId xmlns:p14="http://schemas.microsoft.com/office/powerpoint/2010/main" val="9004982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2026-08-30T21:43:56.7000000Z</dcterms:created>
  <dcterms:modified xsi:type="dcterms:W3CDTF">2026-08-30T21:43:56.7000000Z</dcterms:modified>
</coreProperties>
</file>