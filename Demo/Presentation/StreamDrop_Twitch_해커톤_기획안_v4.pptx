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ebaaa800074395" /><Relationship Type="http://schemas.openxmlformats.org/officeDocument/2006/relationships/extended-properties" Target="/docProps/app.xml" Id="R3a8983ef980d4dd3" /><Relationship Type="http://schemas.openxmlformats.org/officeDocument/2006/relationships/officeDocument" Target="/ppt/presentation.xml" Id="R0b675c5a954142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168b9342134715"/>
  </p:sldMasterIdLst>
  <p:notesMasterIdLst>
    <p:notesMasterId xmlns:r="http://schemas.openxmlformats.org/officeDocument/2006/relationships" r:id="Rd8551c0fedab4848"/>
  </p:notesMasterIdLst>
  <p:sldIdLst>
    <p:sldId xmlns:r="http://schemas.openxmlformats.org/officeDocument/2006/relationships" id="256" r:id="Rcb28a23777ea461f"/>
    <p:sldId xmlns:r="http://schemas.openxmlformats.org/officeDocument/2006/relationships" id="257" r:id="R9ec2a984143746b2"/>
    <p:sldId xmlns:r="http://schemas.openxmlformats.org/officeDocument/2006/relationships" id="258" r:id="Rf54a0d74dd9a4c6e"/>
    <p:sldId xmlns:r="http://schemas.openxmlformats.org/officeDocument/2006/relationships" id="259" r:id="R8a51b1f6f4b44636"/>
    <p:sldId xmlns:r="http://schemas.openxmlformats.org/officeDocument/2006/relationships" id="260" r:id="Rc4a53dcd8a924c95"/>
    <p:sldId xmlns:r="http://schemas.openxmlformats.org/officeDocument/2006/relationships" id="261" r:id="R19694f6cb3ca4482"/>
    <p:sldId xmlns:r="http://schemas.openxmlformats.org/officeDocument/2006/relationships" id="262" r:id="Rd91ff4eb06a94829"/>
    <p:sldId xmlns:r="http://schemas.openxmlformats.org/officeDocument/2006/relationships" id="263" r:id="R8416deb8ae5a45c3"/>
    <p:sldId xmlns:r="http://schemas.openxmlformats.org/officeDocument/2006/relationships" id="264" r:id="R7e7be9e47cf847e3"/>
    <p:sldId xmlns:r="http://schemas.openxmlformats.org/officeDocument/2006/relationships" id="265" r:id="R41afae2b17a6463d"/>
    <p:sldId xmlns:r="http://schemas.openxmlformats.org/officeDocument/2006/relationships" id="266" r:id="R8c521cff8daf4bd0"/>
    <p:sldId xmlns:r="http://schemas.openxmlformats.org/officeDocument/2006/relationships" id="267" r:id="R719afedb33c740e2"/>
    <p:sldId xmlns:r="http://schemas.openxmlformats.org/officeDocument/2006/relationships" id="268" r:id="R1ffd8c91ee5d41cd"/>
    <p:sldId xmlns:r="http://schemas.openxmlformats.org/officeDocument/2006/relationships" id="269" r:id="Rbe2b2b1d157c477a"/>
    <p:sldId xmlns:r="http://schemas.openxmlformats.org/officeDocument/2006/relationships" id="270" r:id="R2534a5044e004d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c2d6e3feb44db1" /><Relationship Type="http://schemas.openxmlformats.org/officeDocument/2006/relationships/slideMaster" Target="/ppt/slideMasters/slideMaster1.xml" Id="Re7168b9342134715" /><Relationship Type="http://schemas.openxmlformats.org/officeDocument/2006/relationships/notesMaster" Target="/ppt/notesMasters/notesMaster1.xml" Id="Rd8551c0fedab4848" /><Relationship Type="http://schemas.openxmlformats.org/officeDocument/2006/relationships/presProps" Target="/ppt/presProps.xml" Id="R0befda548e4a4739" /><Relationship Type="http://schemas.openxmlformats.org/officeDocument/2006/relationships/tableStyles" Target="/ppt/tableStyles.xml" Id="R535ac88c976741cc" /><Relationship Type="http://schemas.openxmlformats.org/officeDocument/2006/relationships/slide" Target="/ppt/slides/slide1.xml" Id="Rcb28a23777ea461f" /><Relationship Type="http://schemas.openxmlformats.org/officeDocument/2006/relationships/slide" Target="/ppt/slides/slide2.xml" Id="R9ec2a984143746b2" /><Relationship Type="http://schemas.openxmlformats.org/officeDocument/2006/relationships/slide" Target="/ppt/slides/slide3.xml" Id="Rf54a0d74dd9a4c6e" /><Relationship Type="http://schemas.openxmlformats.org/officeDocument/2006/relationships/slide" Target="/ppt/slides/slide4.xml" Id="R8a51b1f6f4b44636" /><Relationship Type="http://schemas.openxmlformats.org/officeDocument/2006/relationships/slide" Target="/ppt/slides/slide5.xml" Id="Rc4a53dcd8a924c95" /><Relationship Type="http://schemas.openxmlformats.org/officeDocument/2006/relationships/slide" Target="/ppt/slides/slide6.xml" Id="R19694f6cb3ca4482" /><Relationship Type="http://schemas.openxmlformats.org/officeDocument/2006/relationships/slide" Target="/ppt/slides/slide7.xml" Id="Rd91ff4eb06a94829" /><Relationship Type="http://schemas.openxmlformats.org/officeDocument/2006/relationships/slide" Target="/ppt/slides/slide8.xml" Id="R8416deb8ae5a45c3" /><Relationship Type="http://schemas.openxmlformats.org/officeDocument/2006/relationships/slide" Target="/ppt/slides/slide9.xml" Id="R7e7be9e47cf847e3" /><Relationship Type="http://schemas.openxmlformats.org/officeDocument/2006/relationships/slide" Target="/ppt/slides/slide10.xml" Id="R41afae2b17a6463d" /><Relationship Type="http://schemas.openxmlformats.org/officeDocument/2006/relationships/slide" Target="/ppt/slides/slide11.xml" Id="R8c521cff8daf4bd0" /><Relationship Type="http://schemas.openxmlformats.org/officeDocument/2006/relationships/slide" Target="/ppt/slides/slide12.xml" Id="R719afedb33c740e2" /><Relationship Type="http://schemas.openxmlformats.org/officeDocument/2006/relationships/slide" Target="/ppt/slides/slide13.xml" Id="R1ffd8c91ee5d41cd" /><Relationship Type="http://schemas.openxmlformats.org/officeDocument/2006/relationships/slide" Target="/ppt/slides/slide14.xml" Id="Rbe2b2b1d157c477a" /><Relationship Type="http://schemas.openxmlformats.org/officeDocument/2006/relationships/slide" Target="/ppt/slides/slide15.xml" Id="R2534a5044e004d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b55deacec44d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cde1d189d349e7" /><Relationship Type="http://schemas.openxmlformats.org/officeDocument/2006/relationships/notesMaster" Target="/ppt/notesMasters/notesMaster1.xml" Id="R72714082e25d4a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8abf2d21e745b3" /><Relationship Type="http://schemas.openxmlformats.org/officeDocument/2006/relationships/notesMaster" Target="/ppt/notesMasters/notesMaster1.xml" Id="R7505807bbb9b47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8fa8c7fabb44d4" /><Relationship Type="http://schemas.openxmlformats.org/officeDocument/2006/relationships/notesMaster" Target="/ppt/notesMasters/notesMaster1.xml" Id="R141eefae549946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f7b82b7b1c46f5" /><Relationship Type="http://schemas.openxmlformats.org/officeDocument/2006/relationships/notesMaster" Target="/ppt/notesMasters/notesMaster1.xml" Id="R287ef074e9214b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af0ef9cad94108" /><Relationship Type="http://schemas.openxmlformats.org/officeDocument/2006/relationships/notesMaster" Target="/ppt/notesMasters/notesMaster1.xml" Id="R590e695593444b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e8093ccb84411d" /><Relationship Type="http://schemas.openxmlformats.org/officeDocument/2006/relationships/notesMaster" Target="/ppt/notesMasters/notesMaster1.xml" Id="R78f8bc2c7bfa46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3dac337c39441b" /><Relationship Type="http://schemas.openxmlformats.org/officeDocument/2006/relationships/notesMaster" Target="/ppt/notesMasters/notesMaster1.xml" Id="R0d3b826c7d054b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30279a491e4f55" /><Relationship Type="http://schemas.openxmlformats.org/officeDocument/2006/relationships/notesMaster" Target="/ppt/notesMasters/notesMaster1.xml" Id="Rb9304a82891f48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f0321f6d254d2a" /><Relationship Type="http://schemas.openxmlformats.org/officeDocument/2006/relationships/notesMaster" Target="/ppt/notesMasters/notesMaster1.xml" Id="R07ff17abf38b4e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6efb58c9a04408" /><Relationship Type="http://schemas.openxmlformats.org/officeDocument/2006/relationships/notesMaster" Target="/ppt/notesMasters/notesMaster1.xml" Id="R5cfcf1cc053f4c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e6cfe992ca4ab2" /><Relationship Type="http://schemas.openxmlformats.org/officeDocument/2006/relationships/notesMaster" Target="/ppt/notesMasters/notesMaster1.xml" Id="R7edf31bac7df46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bb33b8bd274f06" /><Relationship Type="http://schemas.openxmlformats.org/officeDocument/2006/relationships/notesMaster" Target="/ppt/notesMasters/notesMaster1.xml" Id="R1689f2f69bd3401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486cab10954f0f" /><Relationship Type="http://schemas.openxmlformats.org/officeDocument/2006/relationships/notesMaster" Target="/ppt/notesMasters/notesMaster1.xml" Id="R91e6c487693c42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0ee39164ee4408" /><Relationship Type="http://schemas.openxmlformats.org/officeDocument/2006/relationships/notesMaster" Target="/ppt/notesMasters/notesMaster1.xml" Id="R96041e9c9bee42a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cbf9328f80e486f" /><Relationship Type="http://schemas.openxmlformats.org/officeDocument/2006/relationships/notesMaster" Target="/ppt/notesMasters/notesMaster1.xml" Id="Rd88a81fea67d45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00:00–00:10 (10초)</a:t>
            </a:r>
          </a:p>
          <a:p xmlns:a="http://schemas.openxmlformats.org/drawingml/2006/main">
            <a:r>
              <a:t>한 문장: 글로벌 라이브 당첨을 국가별 SodaGift 수령까지 연결한 StreamDrop입니다.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https://github.com/Changjae-LE/socal-k-group-hackathon/tree/feature/TEAM5-sodagift-LINK-test</a:t>
            </a:r>
          </a:p>
          <a:p xmlns:a="http://schemas.openxmlformats.org/drawingml/2006/main">
            <a:r>
              <a:t>- SodaGift overview: https://sodagift.com/ko/about-us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00:10–00:25 (15초)</a:t>
            </a:r>
          </a:p>
          <a:p xmlns:a="http://schemas.openxmlformats.org/drawingml/2006/main">
            <a:r>
              <a:t>네 명의 이름만 빠르게 소개하고 역할 설명은 생략합니다.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member names supplied by Team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00:25–01:10 (45초)</a:t>
            </a:r>
          </a:p>
          <a:p xmlns:a="http://schemas.openxmlformats.org/drawingml/2006/main">
            <a:r>
              <a:t>팀 논의에서 확인한 채택 이유는 국가 장벽, 라이브 즉시성, SodaGift LINK 적합성입니다.</a:t>
            </a:r>
          </a:p>
          <a:p xmlns:a="http://schemas.openxmlformats.org/drawingml/2006/main">
            <a:r>
              <a:t>세 가지를 동시에 보여주면서 하루 안에 시연할 수 있는 StreamDrop을 선택했습니다.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Idea adoption rationale based on Team 5 product discussion.</a:t>
            </a:r>
          </a:p>
          <a:p xmlns:a="http://schemas.openxmlformats.org/drawingml/2006/main">
            <a:r>
              <a:t>- SodaGift API introduction: https://kr-bizsodagift-docs.readme.io/docs/introduction</a:t>
            </a:r>
          </a:p>
          <a:p xmlns:a="http://schemas.openxmlformats.org/drawingml/2006/main">
            <a:r>
              <a:t>- SodaGift company overview: https://sodagift.com/ko/about-us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01:10–02:20 (70초)</a:t>
            </a:r>
          </a:p>
          <a:p xmlns:a="http://schemas.openxmlformats.org/drawingml/2006/main">
            <a:r>
              <a:t>Streaming은 Twitch OAuth와 OBS Browser Source, StreamDrop은 운영·참여·추첨 흐름을 담당합니다.</a:t>
            </a:r>
          </a:p>
          <a:p xmlns:a="http://schemas.openxmlformats.org/drawingml/2006/main">
            <a:r>
              <a:t>Firebase는 실시간 상태를 동기화하고 SodaGift는 당첨자 요청 뒤 LINK URL을 반환하며, API 키는 서버 측 경계에만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implementation: https://github.com/Changjae-LE/socal-k-group-hackathon/tree/feature/TEAM5-sodagift-LINK-test</a:t>
            </a:r>
          </a:p>
          <a:p xmlns:a="http://schemas.openxmlformats.org/drawingml/2006/main">
            <a:r>
              <a:t>- SodaGift order lifecycle: https://kr-bizsodagift-docs.readme.io/docs/order-lifecycle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02:20–02:25 (5초)</a:t>
            </a:r>
          </a:p>
          <a:p xmlns:a="http://schemas.openxmlformats.org/drawingml/2006/main">
            <a:r>
              <a:t>운영자가 이벤트를 시작하면 OBS 오버레이의 QR이 활성화됩니다.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9.54.15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02:25–02:30 (5초)</a:t>
            </a:r>
          </a:p>
          <a:p xmlns:a="http://schemas.openxmlformats.org/drawingml/2006/main">
            <a:r>
              <a:t>참가자는 QR을 스캔하고 Twitch 로그인과 국가 선택으로 참여를 등록합니다.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12.49.17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02:30–02:35 (5초)</a:t>
            </a:r>
          </a:p>
          <a:p xmlns:a="http://schemas.openxmlformats.org/drawingml/2006/main">
            <a:r>
              <a:t>참여 완료 정보가 Firestore를 통해 운영자 콘솔에 실시간 반영됩니다.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Screenshots: /Users/dexter.kim/Library/CloudStorage/OneDrive-ResMedCorp/Documents/Screenshot 2026-08-30 at 9.57.50 AM.png; /Users/dexter.kim/Library/CloudStorage/OneDrive-ResMedCorp/Documents/Screenshot 2026-08-30 at 12.49.54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02:35–02:40 (5초)</a:t>
            </a:r>
          </a:p>
          <a:p xmlns:a="http://schemas.openxmlformats.org/drawingml/2006/main">
            <a:r>
              <a:t>운영자가 추첨하면 OBS와 참가자 휴대폰에 당첨 결과가 동시에 표시됩니다.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Screenshots: /Users/dexter.kim/Library/CloudStorage/OneDrive-ResMedCorp/Documents/Screenshot 2026-08-30 at 9.59.05 AM.png; /Users/dexter.kim/Library/CloudStorage/OneDrive-ResMedCorp/Documents/Screenshot 2026-08-29 at 11.43.50 PM.png; /Users/dexter.kim/Library/CloudStorage/OneDrive-ResMedCorp/Documents/Screenshot 2026-08-30 at 12.52.09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02:40–02:45 (5초)</a:t>
            </a:r>
          </a:p>
          <a:p xmlns:a="http://schemas.openxmlformats.org/drawingml/2006/main">
            <a:r>
              <a:t>StreamDrop 당첨 화면에 표시되는 선물 받기 버튼과 LINK 발급 안내를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1.21.51 PM.png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02:45–02:50 (5초)</a:t>
            </a:r>
          </a:p>
          <a:p xmlns:a="http://schemas.openxmlformats.org/drawingml/2006/main">
            <a:r>
              <a:t>발급된 SodaGift LINK에서 StreamDrop 당첨 리워드 안내를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1.21.28 PM.png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02:50–02:55 (5초)</a:t>
            </a:r>
          </a:p>
          <a:p xmlns:a="http://schemas.openxmlformats.org/drawingml/2006/main">
            <a:r>
              <a:t>당첨자가 선택한 상품의 바코드와 사용 정보를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1.21.40 PM.png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02:55–03:00 (5초) 이후 03:00–09:00 라이브 데모 (6분)</a:t>
            </a:r>
          </a:p>
          <a:p xmlns:a="http://schemas.openxmlformats.org/drawingml/2006/main">
            <a:r>
              <a:t>이제 설명을 멈추고 실제 Twitch 연동 흐름을 시연합니다.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demo sequence based on Team 5's implemented StreamDrop 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09:00–09:30 (30초)</a:t>
            </a:r>
          </a:p>
          <a:p xmlns:a="http://schemas.openxmlformats.org/drawingml/2006/main">
            <a:r>
              <a:t>귓속말의 silent drop은 직접 수령 화면으로 우회했습니다.</a:t>
            </a:r>
          </a:p>
          <a:p xmlns:a="http://schemas.openxmlformats.org/drawingml/2006/main">
            <a:r>
              <a:t>feat/ai-gift-recommendation은 낙첨자에게 국가와 Twitch 관심사 기반 Top 3를 추천합니다.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Twitch Whisper API silent-drop behavior: https://dev.twitch.tv/docs/chat/whispers/</a:t>
            </a:r>
          </a:p>
          <a:p xmlns:a="http://schemas.openxmlformats.org/drawingml/2006/main">
            <a:r>
              <a:t>- Twitch Whisper privacy settings: https://help.twitch.tv/s/article/how-to-use-whispers</a:t>
            </a:r>
          </a:p>
          <a:p xmlns:a="http://schemas.openxmlformats.org/drawingml/2006/main">
            <a:r>
              <a:t>- AI gift recommendation branch: https://github.com/Changjae-LE/socal-k-group-hackathon/tree/feat/ai-gift-recommendation</a:t>
            </a:r>
          </a:p>
          <a:p xmlns:a="http://schemas.openxmlformats.org/drawingml/2006/main">
            <a:r>
              <a:t>- Product AI implementation: raffle-app/app/services/recommend.py at commit e040c6a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09:30–10:00 (30초)</a:t>
            </a:r>
          </a:p>
          <a:p xmlns:a="http://schemas.openxmlformats.org/drawingml/2006/main">
            <a:r>
              <a:t>글로벌 팬 참여를 국경 없는 구매 여정으로 전환하고, K-CON·게임·팬미팅·스포츠까지 확장할 수 있습니다.</a:t>
            </a:r>
          </a:p>
          <a:p xmlns:a="http://schemas.openxmlformats.org/drawingml/2006/main">
            <a:r>
              <a:t>캠페인 운영 이용료와 경품·후속 주문 수수료를 만들고, AI 추천으로 반복 구매와 고객가치를 높입니다.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SodaGift company overview: https://sodagift.com/ko/about-us</a:t>
            </a:r>
          </a:p>
          <a:p xmlns:a="http://schemas.openxmlformats.org/drawingml/2006/main">
            <a:r>
              <a:t>- AI gift recommendation branch: https://github.com/Changjae-LE/socal-k-group-hackathon/tree/feat/ai-gift-recommendation</a:t>
            </a:r>
          </a:p>
          <a:p xmlns:a="http://schemas.openxmlformats.org/drawingml/2006/main">
            <a:r>
              <a:t>- Use cases and revenue model are Team 5 product hypotheses for the hackathon.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10:00–15:00 Q&amp;A (5분)</a:t>
            </a:r>
          </a:p>
          <a:p xmlns:a="http://schemas.openxmlformats.org/drawingml/2006/main">
            <a:r>
              <a:t>질문이 없으면 네 가지 핵심 가치 중 하나를 짚어 실제 데모와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Closing summary based on Team 5 product concept and implemented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d8d0fc040d47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473871dd114621" /><Relationship Type="http://schemas.openxmlformats.org/officeDocument/2006/relationships/slideLayout" Target="/ppt/slideLayouts/slideLayout1.xml" Id="Ra96b3f66f75c4c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b3f66f75c4c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b654789144921" /><Relationship Type="http://schemas.openxmlformats.org/officeDocument/2006/relationships/notesSlide" Target="/ppt/notesSlides/notesSlide1.xml" Id="Rf6235591555e4b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1d2e83b2d4e9c" /><Relationship Type="http://schemas.openxmlformats.org/officeDocument/2006/relationships/notesSlide" Target="/ppt/notesSlides/notesSlide2.xml" Id="R8b6cfa50e12b4b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5de2c825f4278" /><Relationship Type="http://schemas.openxmlformats.org/officeDocument/2006/relationships/notesSlide" Target="/ppt/notesSlides/notesSlide3.xml" Id="R6c440c7945fc49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aecbaf88c43df" /><Relationship Type="http://schemas.openxmlformats.org/officeDocument/2006/relationships/notesSlide" Target="/ppt/notesSlides/notesSlide4.xml" Id="R8f20af6fc9da47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fc07d785748a0" /><Relationship Type="http://schemas.openxmlformats.org/officeDocument/2006/relationships/image" Target="/ppt/media/image.png" Id="R442ac3625bdb49b9" /><Relationship Type="http://schemas.openxmlformats.org/officeDocument/2006/relationships/notesSlide" Target="/ppt/notesSlides/notesSlide5.xml" Id="R4b8ba129637349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f486707d64454" /><Relationship Type="http://schemas.openxmlformats.org/officeDocument/2006/relationships/image" Target="/ppt/media/image2.png" Id="R8ab58301b3834363" /><Relationship Type="http://schemas.openxmlformats.org/officeDocument/2006/relationships/notesSlide" Target="/ppt/notesSlides/notesSlide6.xml" Id="R510e4264392e49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ac9e2b97445d0" /><Relationship Type="http://schemas.openxmlformats.org/officeDocument/2006/relationships/image" Target="/ppt/media/image3.png" Id="R4bab452a7c3d49ed" /><Relationship Type="http://schemas.openxmlformats.org/officeDocument/2006/relationships/image" Target="/ppt/media/image4.png" Id="R2f66eb95205742a5" /><Relationship Type="http://schemas.openxmlformats.org/officeDocument/2006/relationships/notesSlide" Target="/ppt/notesSlides/notesSlide7.xml" Id="R8c54e10759824e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cdf55778c462a" /><Relationship Type="http://schemas.openxmlformats.org/officeDocument/2006/relationships/image" Target="/ppt/media/image5.png" Id="Rb3befb3787fa4ea7" /><Relationship Type="http://schemas.openxmlformats.org/officeDocument/2006/relationships/image" Target="/ppt/media/image6.png" Id="R51d9264e70bc47e1" /><Relationship Type="http://schemas.openxmlformats.org/officeDocument/2006/relationships/image" Target="/ppt/media/image7.png" Id="R5abff9914128442e" /><Relationship Type="http://schemas.openxmlformats.org/officeDocument/2006/relationships/notesSlide" Target="/ppt/notesSlides/notesSlide8.xml" Id="R124a8b6a334645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f8298f970405a" /><Relationship Type="http://schemas.openxmlformats.org/officeDocument/2006/relationships/image" Target="/ppt/media/image8.png" Id="R2e20486453f0429f" /><Relationship Type="http://schemas.openxmlformats.org/officeDocument/2006/relationships/notesSlide" Target="/ppt/notesSlides/notesSlide9.xml" Id="Re2c9bb27b0ec49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0060599134b63" /><Relationship Type="http://schemas.openxmlformats.org/officeDocument/2006/relationships/image" Target="/ppt/media/image9.png" Id="Re8ff731431d1447f" /><Relationship Type="http://schemas.openxmlformats.org/officeDocument/2006/relationships/notesSlide" Target="/ppt/notesSlides/notesSlide10.xml" Id="R5d73a1b8061a41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1059adb814240" /><Relationship Type="http://schemas.openxmlformats.org/officeDocument/2006/relationships/image" Target="/ppt/media/image10.png" Id="R79cb03cb80e0452d" /><Relationship Type="http://schemas.openxmlformats.org/officeDocument/2006/relationships/notesSlide" Target="/ppt/notesSlides/notesSlide11.xml" Id="R81c3bf47b10840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9c26c73a1484b" /><Relationship Type="http://schemas.openxmlformats.org/officeDocument/2006/relationships/notesSlide" Target="/ppt/notesSlides/notesSlide12.xml" Id="Rf037cd3a045a46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6d4c646984292" /><Relationship Type="http://schemas.openxmlformats.org/officeDocument/2006/relationships/notesSlide" Target="/ppt/notesSlides/notesSlide13.xml" Id="Rb99a218f8f10475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ad6ec31ad416d" /><Relationship Type="http://schemas.openxmlformats.org/officeDocument/2006/relationships/notesSlide" Target="/ppt/notesSlides/notesSlide14.xml" Id="R9d8ecc6ef76641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972e31d8a4f36" /><Relationship Type="http://schemas.openxmlformats.org/officeDocument/2006/relationships/notesSlide" Target="/ppt/notesSlides/notesSlide15.xml" Id="R5bbe2c5b977b4c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7B61B-AEF3-4E37-A16A-01CF1D86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31F40-28CD-48B6-8873-1062E8BD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DCBF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FF9AD-541D-4272-8EE5-176504A4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143250" cy="3143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0BBAF-E0DD-4721-9C61-0378F8A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24150"/>
            <a:ext cx="20002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E30F-34ED-45BD-90C5-3ED79D2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48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0BDA7-EF12-4E84-9735-D5BCA15A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04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FBE6D-B798-4E35-9D55-406C129B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29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DROP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4D87F-492E-4C72-BDAE-1A44A91A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9540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E321B-325A-4818-B672-40B28DA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6000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당첨의 순간을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전 세계 팬의 선물로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8C542-D17F-448B-B0E4-8FD8D08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Twitch × OBS × Firebase × FastAPI × SodaGift LINK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17FBD-B1D3-4F1B-917A-0382757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5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Global Live Reward · Team 5</a:t>
            </a:r>
          </a:p>
        </p:txBody>
      </p:sp>
    </p:spTree>
    <p:extLst>
      <p:ext uri="{BB962C8B-B14F-4D97-AF65-F5344CB8AC3E}">
        <p14:creationId xmlns:p14="http://schemas.microsoft.com/office/powerpoint/2010/main" val="1377619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CC859-C8F4-4B31-86C9-1A75F486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1965594B-6A83-4B5C-8520-46B4A766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TEAM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040D8-B864-4490-91CF-44D5C946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24068-9352-43E4-A519-26E068D6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4A12F-998F-4527-95CF-4FA3CA9C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975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Dexter Kim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E6981-B336-4512-AA5D-AB83B966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9A6BD-EDE6-47CA-BEC5-A70A2209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24300"/>
            <a:ext cx="4953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73F20-D745-4783-8DD6-66F5C42A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0" cy="3619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0B238-8974-4683-9984-7C0B377F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907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2182D-B5E5-4483-B27E-06E9A3D1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4320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Christian Lee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8A3CC-32F7-4F0D-9EBB-A73A2205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717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11603-D4A8-4394-A3A9-C5956165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6D1EC-8048-4FEA-82F6-46017614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7665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이창재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C4C07-0CB4-4D3C-8956-23139D75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099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6A498-DDDE-4B20-81EC-28784CD6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672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7DB6D-AFC9-46F7-BD51-212574A3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1010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최재원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52A9E-817D-412B-B6E5-FC8589E5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48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300759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AD1BC-0FC0-41FA-B1CF-783C905A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66279F6-5071-4199-9354-57DECE1B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선택한 이유는 글로벌·실시간·SodaGift였다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704AD-AAC0-4D74-980D-ECFFC3C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563FC-2211-4011-BCFC-86593BD5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37F45-6564-4367-B20C-373D6048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GLOBAL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5F05A-0DE3-4490-8C37-8746E6A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국가 장벽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7DC22-1B2D-4525-A477-2B69BEA5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전 세계 팬은 한 방송에 모이지만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상품·통화·사용 조건은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국가마다 다르다.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1EE74-E40E-4BE0-A29C-DDFCB2FE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3C1C5-F1FB-4EA6-88AD-F37B3C86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41CB1-549B-4EBA-AA63-A58CD02C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 즉시성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AC72D-569A-4CC0-BBDB-1DA04681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라이브의 흥분이 식기 전에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당첨자가 바로 선물을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확인해야 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6B77D-3080-4243-9C05-26C60B66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0661A-6BA1-41E6-8A0B-F9BA654B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52B1FB-1B7A-4F47-8841-045A1592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LINK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49095-8002-4B32-99D6-EE38EEB9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배송·주소 수집 없이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국가에 맞는 SodaGift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수령 경험으로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6534836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12E4B-B87B-4423-8D70-6434C1C6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FC4E55D1-3D1D-4650-B719-114E32DE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시스템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E406C-2E8C-47A6-98DD-E1AD575C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84CCC-6B5C-410D-B007-F5C987C2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67050"/>
            <a:ext cx="68580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E394E-B93B-4455-AA15-C9A0CF60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05050"/>
            <a:ext cx="4572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BB36C-70E5-4107-B62D-7D5E29D1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67050"/>
            <a:ext cx="49530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3BBAC-DB98-4F52-A074-4C555E16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05050"/>
            <a:ext cx="4572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49D53-5645-49F7-85B5-67B69716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BD136-11AB-4044-A5FD-3EE3DF3B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647950"/>
            <a:ext cx="2476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E4E8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1E50B2-D3E8-4808-A7F8-62C35420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18F2A8-B21B-41DB-95D3-9E470105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194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Twitch OAuth 2.0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OBS Browser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BFEAE-ED03-4DEE-8F4F-D44F9988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2647950"/>
            <a:ext cx="2857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59306-51FD-4750-BE10-88E493AC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194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4219C-EE9E-45DC-B918-6882378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194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rPr>
              <a:t>Admin · Join · Result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rPr>
              <a:t>Raffle + LINK orchestration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42014-3637-42FB-BBB2-87765375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1352550"/>
            <a:ext cx="2857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E558D-0544-4093-8ED4-127A965F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24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Firebase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C57C8-F76C-483E-B38F-7DF1CC42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924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rPr>
              <a:t>Hosting · Firestore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rPr>
              <a:t>Realtime state store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F55440-29E0-496C-8784-50D4F7DF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647950"/>
            <a:ext cx="2476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C5D86"/>
          </a:solidFill>
          <a:ln xmlns:a="http://schemas.openxmlformats.org/drawingml/2006/main" w="9525">
            <a:solidFill>
              <a:srgbClr val="EC5D8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7D9DAD-BFB1-4E8B-8CC9-FB6AF661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19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ABBAF9-8E48-4F18-8874-20870125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194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LINK Order API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상품 선택 · 주문 완료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A32067-C855-43B3-9B45-4AAC59A8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5238750" cy="838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FE0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D5AD21-8203-4BAE-9F63-81D73F81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474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D79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D79E6"/>
                </a:solidFill>
                <a:latin typeface="Apple SD Gothic Neo"/>
                <a:ea typeface="Apple SD Gothic Neo"/>
                <a:cs typeface="Apple SD Gothic Neo"/>
              </a:rPr>
              <a:t>FIREBASE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A85EE-5FAC-405D-A038-9F3B47D6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474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405A7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405A78"/>
                </a:solidFill>
                <a:latin typeface="Apple SD Gothic Neo"/>
                <a:ea typeface="Apple SD Gothic Neo"/>
                <a:cs typeface="Apple SD Gothic Neo"/>
              </a:rPr>
              <a:t>participant · country · winner ·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BE5EF6-0F25-4C9C-A72F-EB85DDC0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324350"/>
            <a:ext cx="5257800" cy="838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9C20F0-B637-44A0-B7F3-29532C9C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57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 GIFT FLOW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4DFA4C-19BE-4FBE-AC78-8C568F5E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A9D6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9D6FF"/>
                </a:solidFill>
                <a:latin typeface="Apple SD Gothic Neo"/>
                <a:ea typeface="Apple SD Gothic Neo"/>
                <a:cs typeface="Apple SD Gothic Neo"/>
              </a:rPr>
              <a:t>POST /orders (LINK) → recipientUrl → Twitch whisper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94D074-798A-4EA2-BAC3-CB695FB7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1049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FLOW  ① Start  →  ② QR  →  ③ Join  →  ④ Raffle  →  ⑤ Winner  →  ⑥ SodaGift LINK</a:t>
            </a:r>
          </a:p>
        </p:txBody>
      </p:sp>
    </p:spTree>
    <p:extLst>
      <p:ext uri="{BB962C8B-B14F-4D97-AF65-F5344CB8AC3E}">
        <p14:creationId xmlns:p14="http://schemas.microsoft.com/office/powerpoint/2010/main" val="907972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5-title">
            <a:extLst xmlns:a="http://schemas.openxmlformats.org/drawingml/2006/main">
              <a:ext uri="{FF2B5EF4-FFF2-40B4-BE49-F238E27FC236}">
                <a16:creationId xmlns:a16="http://schemas.microsoft.com/office/drawing/2014/main" id="{3706986F-5AF4-4509-9EA7-7DBA4BBA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01 · 이벤트 시작</a:t>
            </a:r>
          </a:p>
        </p:txBody>
      </p:sp>
      <p:sp>
        <p:nvSpPr>
          <p:cNvPr id="30" name="stage-5-subtitle">
            <a:extLst xmlns:a="http://schemas.openxmlformats.org/drawingml/2006/main">
              <a:ext uri="{FF2B5EF4-FFF2-40B4-BE49-F238E27FC236}">
                <a16:creationId xmlns:a16="http://schemas.microsoft.com/office/drawing/2014/main" id="{17736E46-9761-42C4-A345-97D7E722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운영자  ·  Admin에서 이벤트를 시작하고 OBS에 QR을 노출</a:t>
            </a:r>
          </a:p>
        </p:txBody>
      </p:sp>
      <p:sp>
        <p:nvSpPr>
          <p:cNvPr id="31" name="stage-5-page">
            <a:extLst xmlns:a="http://schemas.openxmlformats.org/drawingml/2006/main">
              <a:ext uri="{FF2B5EF4-FFF2-40B4-BE49-F238E27FC236}">
                <a16:creationId xmlns:a16="http://schemas.microsoft.com/office/drawing/2014/main" id="{04014B17-7D0B-4BEC-BBE0-53E5B0C0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32" name="event-start-admin-frame">
            <a:extLst xmlns:a="http://schemas.openxmlformats.org/drawingml/2006/main">
              <a:ext uri="{FF2B5EF4-FFF2-40B4-BE49-F238E27FC236}">
                <a16:creationId xmlns:a16="http://schemas.microsoft.com/office/drawing/2014/main" id="{8F0BE628-EEDF-42CE-9450-8EBE126D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12776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ac3625bdb49b9"/>
          <a:stretch xmlns:a="http://schemas.openxmlformats.org/drawingml/2006/main"/>
        </p:blipFill>
        <p:spPr>
          <a:xfrm xmlns:a="http://schemas.openxmlformats.org/drawingml/2006/main">
            <a:off x="1506881" y="1828800"/>
            <a:ext cx="9178239" cy="3848100"/>
          </a:xfrm>
          <a:prstGeom xmlns:a="http://schemas.openxmlformats.org/drawingml/2006/main" prst="rect">
            <a:avLst/>
          </a:prstGeom>
        </p:spPr>
      </p:pic>
      <p:sp>
        <p:nvSpPr>
          <p:cNvPr id="34" name="event-start-caption">
            <a:extLst xmlns:a="http://schemas.openxmlformats.org/drawingml/2006/main">
              <a:ext uri="{FF2B5EF4-FFF2-40B4-BE49-F238E27FC236}">
                <a16:creationId xmlns:a16="http://schemas.microsoft.com/office/drawing/2014/main" id="{166F8B76-6CCF-4F0A-BDA2-FB92C48E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운영자 콘솔에서 이벤트를 시작하면 OBS 오버레이의 QR이 활성화됩니다.</a:t>
            </a:r>
          </a:p>
        </p:txBody>
      </p:sp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6-title">
            <a:extLst xmlns:a="http://schemas.openxmlformats.org/drawingml/2006/main">
              <a:ext uri="{FF2B5EF4-FFF2-40B4-BE49-F238E27FC236}">
                <a16:creationId xmlns:a16="http://schemas.microsoft.com/office/drawing/2014/main" id="{990F4299-5972-4868-8D97-CF6EE42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02 · 참여 등록</a:t>
            </a:r>
          </a:p>
        </p:txBody>
      </p:sp>
      <p:sp>
        <p:nvSpPr>
          <p:cNvPr id="30" name="stage-6-subtitle">
            <a:extLst xmlns:a="http://schemas.openxmlformats.org/drawingml/2006/main">
              <a:ext uri="{FF2B5EF4-FFF2-40B4-BE49-F238E27FC236}">
                <a16:creationId xmlns:a16="http://schemas.microsoft.com/office/drawing/2014/main" id="{2D943627-1129-477E-A637-A8AEA732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참가자  ·  QR 스캔 후 Twitch 로그인과 국가 선택</a:t>
            </a:r>
          </a:p>
        </p:txBody>
      </p:sp>
      <p:sp>
        <p:nvSpPr>
          <p:cNvPr id="31" name="stage-6-page">
            <a:extLst xmlns:a="http://schemas.openxmlformats.org/drawingml/2006/main">
              <a:ext uri="{FF2B5EF4-FFF2-40B4-BE49-F238E27FC236}">
                <a16:creationId xmlns:a16="http://schemas.microsoft.com/office/drawing/2014/main" id="{8F633D4E-B258-41D7-8D80-A66D833F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32" name="registration-overlay-frame">
            <a:extLst xmlns:a="http://schemas.openxmlformats.org/drawingml/2006/main">
              <a:ext uri="{FF2B5EF4-FFF2-40B4-BE49-F238E27FC236}">
                <a16:creationId xmlns:a16="http://schemas.microsoft.com/office/drawing/2014/main" id="{5542C100-C5A9-4298-AFB9-44689B6E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695450"/>
            <a:ext cx="82296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58301b3834363"/>
          <a:stretch xmlns:a="http://schemas.openxmlformats.org/drawingml/2006/main"/>
        </p:blipFill>
        <p:spPr>
          <a:xfrm xmlns:a="http://schemas.openxmlformats.org/drawingml/2006/main">
            <a:off x="2856903" y="1771650"/>
            <a:ext cx="6478194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7-title">
            <a:extLst xmlns:a="http://schemas.openxmlformats.org/drawingml/2006/main">
              <a:ext uri="{FF2B5EF4-FFF2-40B4-BE49-F238E27FC236}">
                <a16:creationId xmlns:a16="http://schemas.microsoft.com/office/drawing/2014/main" id="{1A2E5B16-FCA9-4875-B147-CBFE19C0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03 · 참가 확인</a:t>
            </a:r>
          </a:p>
        </p:txBody>
      </p:sp>
      <p:sp>
        <p:nvSpPr>
          <p:cNvPr id="30" name="stage-7-subtitle">
            <a:extLst xmlns:a="http://schemas.openxmlformats.org/drawingml/2006/main">
              <a:ext uri="{FF2B5EF4-FFF2-40B4-BE49-F238E27FC236}">
                <a16:creationId xmlns:a16="http://schemas.microsoft.com/office/drawing/2014/main" id="{550CA3ED-D2AF-4237-9F26-4F05B744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참가자 → 운영자  ·  참여 완료 후 Firestore 반영 상태 확인</a:t>
            </a:r>
          </a:p>
        </p:txBody>
      </p:sp>
      <p:sp>
        <p:nvSpPr>
          <p:cNvPr id="31" name="stage-7-page">
            <a:extLst xmlns:a="http://schemas.openxmlformats.org/drawingml/2006/main">
              <a:ext uri="{FF2B5EF4-FFF2-40B4-BE49-F238E27FC236}">
                <a16:creationId xmlns:a16="http://schemas.microsoft.com/office/drawing/2014/main" id="{7330D4BC-CC98-45E3-BE81-7D573747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32" name="confirmation-admin-label">
            <a:extLst xmlns:a="http://schemas.openxmlformats.org/drawingml/2006/main">
              <a:ext uri="{FF2B5EF4-FFF2-40B4-BE49-F238E27FC236}">
                <a16:creationId xmlns:a16="http://schemas.microsoft.com/office/drawing/2014/main" id="{E3B79AC1-070E-496A-84DB-45D42936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참여 접수 · 운영자 화면</a:t>
            </a:r>
          </a:p>
        </p:txBody>
      </p:sp>
      <p:sp>
        <p:nvSpPr>
          <p:cNvPr id="33" name="confirmation-mobile-label">
            <a:extLst xmlns:a="http://schemas.openxmlformats.org/drawingml/2006/main">
              <a:ext uri="{FF2B5EF4-FFF2-40B4-BE49-F238E27FC236}">
                <a16:creationId xmlns:a16="http://schemas.microsoft.com/office/drawing/2014/main" id="{692D8FBA-ADAE-4DEE-B29B-B5CE9994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573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참여 완료 · 참가자 화면</a:t>
            </a:r>
          </a:p>
        </p:txBody>
      </p:sp>
      <p:sp>
        <p:nvSpPr>
          <p:cNvPr id="34" name="confirmation-admin-frame">
            <a:extLst xmlns:a="http://schemas.openxmlformats.org/drawingml/2006/main">
              <a:ext uri="{FF2B5EF4-FFF2-40B4-BE49-F238E27FC236}">
                <a16:creationId xmlns:a16="http://schemas.microsoft.com/office/drawing/2014/main" id="{E64B9897-DF01-4EDA-B7A1-E3B18961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53340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b452a7c3d49ed"/>
          <a:stretch xmlns:a="http://schemas.openxmlformats.org/drawingml/2006/main"/>
        </p:blipFill>
        <p:spPr>
          <a:xfrm xmlns:a="http://schemas.openxmlformats.org/drawingml/2006/main">
            <a:off x="533400" y="2596392"/>
            <a:ext cx="5181600" cy="2331967"/>
          </a:xfrm>
          <a:prstGeom xmlns:a="http://schemas.openxmlformats.org/drawingml/2006/main" prst="rect">
            <a:avLst/>
          </a:prstGeom>
        </p:spPr>
      </p:pic>
      <p:sp>
        <p:nvSpPr>
          <p:cNvPr id="36" name="confirmation-mobile-frame">
            <a:extLst xmlns:a="http://schemas.openxmlformats.org/drawingml/2006/main">
              <a:ext uri="{FF2B5EF4-FFF2-40B4-BE49-F238E27FC236}">
                <a16:creationId xmlns:a16="http://schemas.microsoft.com/office/drawing/2014/main" id="{7520A7F3-E85F-4DCE-8507-639A51B0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81200"/>
            <a:ext cx="53340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6eb95205742a5"/>
          <a:stretch xmlns:a="http://schemas.openxmlformats.org/drawingml/2006/main"/>
        </p:blipFill>
        <p:spPr>
          <a:xfrm xmlns:a="http://schemas.openxmlformats.org/drawingml/2006/main">
            <a:off x="6993350" y="2057400"/>
            <a:ext cx="4148901" cy="3409950"/>
          </a:xfrm>
          <a:prstGeom xmlns:a="http://schemas.openxmlformats.org/drawingml/2006/main" prst="rect">
            <a:avLst/>
          </a:prstGeom>
        </p:spPr>
      </p:pic>
      <p:sp>
        <p:nvSpPr>
          <p:cNvPr id="38" name="confirmation-caption">
            <a:extLst xmlns:a="http://schemas.openxmlformats.org/drawingml/2006/main">
              <a:ext uri="{FF2B5EF4-FFF2-40B4-BE49-F238E27FC236}">
                <a16:creationId xmlns:a16="http://schemas.microsoft.com/office/drawing/2014/main" id="{5DD18A26-E187-4FE0-B4C8-9BE93F4C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3405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참가자 등록 정보가 Firestore를 통해 운영자 콘솔에 실시간 반영됩니다.</a:t>
            </a:r>
          </a:p>
        </p:txBody>
      </p:sp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8-title">
            <a:extLst xmlns:a="http://schemas.openxmlformats.org/drawingml/2006/main">
              <a:ext uri="{FF2B5EF4-FFF2-40B4-BE49-F238E27FC236}">
                <a16:creationId xmlns:a16="http://schemas.microsoft.com/office/drawing/2014/main" id="{2A84CD39-CBDC-48AA-A65C-371D3E51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04 · 추첨·발표</a:t>
            </a:r>
          </a:p>
        </p:txBody>
      </p:sp>
      <p:sp>
        <p:nvSpPr>
          <p:cNvPr id="30" name="stage-8-subtitle">
            <a:extLst xmlns:a="http://schemas.openxmlformats.org/drawingml/2006/main">
              <a:ext uri="{FF2B5EF4-FFF2-40B4-BE49-F238E27FC236}">
                <a16:creationId xmlns:a16="http://schemas.microsoft.com/office/drawing/2014/main" id="{DA237C6B-0CDE-4761-8951-AFB90DFD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운영자 → 참가자  ·  추첨 실행, OBS 발표, 휴대폰 결과 확인</a:t>
            </a:r>
          </a:p>
        </p:txBody>
      </p:sp>
      <p:sp>
        <p:nvSpPr>
          <p:cNvPr id="31" name="stage-8-page">
            <a:extLst xmlns:a="http://schemas.openxmlformats.org/drawingml/2006/main">
              <a:ext uri="{FF2B5EF4-FFF2-40B4-BE49-F238E27FC236}">
                <a16:creationId xmlns:a16="http://schemas.microsoft.com/office/drawing/2014/main" id="{30FF151D-18F3-4299-BD6A-8F25AD24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32" name="raffle-overlay-label">
            <a:extLst xmlns:a="http://schemas.openxmlformats.org/drawingml/2006/main">
              <a:ext uri="{FF2B5EF4-FFF2-40B4-BE49-F238E27FC236}">
                <a16:creationId xmlns:a16="http://schemas.microsoft.com/office/drawing/2014/main" id="{10605487-8C75-4256-9DB0-26F4FEA0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OBS 오버레이 · 당첨자 발표</a:t>
            </a:r>
          </a:p>
        </p:txBody>
      </p:sp>
      <p:sp>
        <p:nvSpPr>
          <p:cNvPr id="33" name="raffle-admin-label">
            <a:extLst xmlns:a="http://schemas.openxmlformats.org/drawingml/2006/main">
              <a:ext uri="{FF2B5EF4-FFF2-40B4-BE49-F238E27FC236}">
                <a16:creationId xmlns:a16="http://schemas.microsoft.com/office/drawing/2014/main" id="{6E05A02C-0044-4038-BB11-71481A1F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5735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운영자 콘솔 · 추첨 완료</a:t>
            </a:r>
          </a:p>
        </p:txBody>
      </p:sp>
      <p:sp>
        <p:nvSpPr>
          <p:cNvPr id="34" name="raffle-overlay-frame">
            <a:extLst xmlns:a="http://schemas.openxmlformats.org/drawingml/2006/main">
              <a:ext uri="{FF2B5EF4-FFF2-40B4-BE49-F238E27FC236}">
                <a16:creationId xmlns:a16="http://schemas.microsoft.com/office/drawing/2014/main" id="{88DA0917-9384-4359-B61F-B83A0573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66675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efb3787fa4ea7"/>
          <a:stretch xmlns:a="http://schemas.openxmlformats.org/drawingml/2006/main"/>
        </p:blipFill>
        <p:spPr>
          <a:xfrm xmlns:a="http://schemas.openxmlformats.org/drawingml/2006/main">
            <a:off x="794921" y="2057400"/>
            <a:ext cx="5992057" cy="3695700"/>
          </a:xfrm>
          <a:prstGeom xmlns:a="http://schemas.openxmlformats.org/drawingml/2006/main" prst="rect">
            <a:avLst/>
          </a:prstGeom>
        </p:spPr>
      </p:pic>
      <p:sp>
        <p:nvSpPr>
          <p:cNvPr id="36" name="raffle-admin-frame">
            <a:extLst xmlns:a="http://schemas.openxmlformats.org/drawingml/2006/main">
              <a:ext uri="{FF2B5EF4-FFF2-40B4-BE49-F238E27FC236}">
                <a16:creationId xmlns:a16="http://schemas.microsoft.com/office/drawing/2014/main" id="{1429917D-85EC-4521-86D3-BA4ABC42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81200"/>
            <a:ext cx="43053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9264e70bc47e1"/>
          <a:stretch xmlns:a="http://schemas.openxmlformats.org/drawingml/2006/main"/>
        </p:blipFill>
        <p:spPr>
          <a:xfrm xmlns:a="http://schemas.openxmlformats.org/drawingml/2006/main">
            <a:off x="8122649" y="2057400"/>
            <a:ext cx="2919002" cy="1638300"/>
          </a:xfrm>
          <a:prstGeom xmlns:a="http://schemas.openxmlformats.org/drawingml/2006/main" prst="rect">
            <a:avLst/>
          </a:prstGeom>
        </p:spPr>
      </p:pic>
      <p:sp>
        <p:nvSpPr>
          <p:cNvPr id="38" name="raffle-mobile-label">
            <a:extLst xmlns:a="http://schemas.openxmlformats.org/drawingml/2006/main">
              <a:ext uri="{FF2B5EF4-FFF2-40B4-BE49-F238E27FC236}">
                <a16:creationId xmlns:a16="http://schemas.microsoft.com/office/drawing/2014/main" id="{91883A4B-35B8-4145-847E-DADE3752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8620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당첨자 모바일 · 결과 확인</a:t>
            </a:r>
          </a:p>
        </p:txBody>
      </p:sp>
      <p:sp>
        <p:nvSpPr>
          <p:cNvPr id="39" name="raffle-mobile-frame">
            <a:extLst xmlns:a="http://schemas.openxmlformats.org/drawingml/2006/main">
              <a:ext uri="{FF2B5EF4-FFF2-40B4-BE49-F238E27FC236}">
                <a16:creationId xmlns:a16="http://schemas.microsoft.com/office/drawing/2014/main" id="{D6E5FB68-95A7-4482-BB36-1C940817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10050"/>
            <a:ext cx="43053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bff9914128442e"/>
          <a:stretch xmlns:a="http://schemas.openxmlformats.org/drawingml/2006/main"/>
        </p:blipFill>
        <p:spPr>
          <a:xfrm xmlns:a="http://schemas.openxmlformats.org/drawingml/2006/main">
            <a:off x="8747423" y="4286250"/>
            <a:ext cx="1669454" cy="1466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9-title">
            <a:extLst xmlns:a="http://schemas.openxmlformats.org/drawingml/2006/main">
              <a:ext uri="{FF2B5EF4-FFF2-40B4-BE49-F238E27FC236}">
                <a16:creationId xmlns:a16="http://schemas.microsoft.com/office/drawing/2014/main" id="{67214DC8-4794-4D1D-948D-F5B6FC89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05 · StreamDrop 수령 화면</a:t>
            </a:r>
          </a:p>
        </p:txBody>
      </p:sp>
      <p:sp>
        <p:nvSpPr>
          <p:cNvPr id="30" name="stage-9-subtitle">
            <a:extLst xmlns:a="http://schemas.openxmlformats.org/drawingml/2006/main">
              <a:ext uri="{FF2B5EF4-FFF2-40B4-BE49-F238E27FC236}">
                <a16:creationId xmlns:a16="http://schemas.microsoft.com/office/drawing/2014/main" id="{E847C03E-054D-44A7-9B56-3BAC6E27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당첨자  ·  선물 받기 버튼과 SodaGift LINK 발급 안내를 확인</a:t>
            </a:r>
          </a:p>
        </p:txBody>
      </p:sp>
      <p:sp>
        <p:nvSpPr>
          <p:cNvPr id="31" name="stage-9-page">
            <a:extLst xmlns:a="http://schemas.openxmlformats.org/drawingml/2006/main">
              <a:ext uri="{FF2B5EF4-FFF2-40B4-BE49-F238E27FC236}">
                <a16:creationId xmlns:a16="http://schemas.microsoft.com/office/drawing/2014/main" id="{8F63346D-B348-430D-B597-A61223CB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32" name="gift-button-frame">
            <a:extLst xmlns:a="http://schemas.openxmlformats.org/drawingml/2006/main">
              <a:ext uri="{FF2B5EF4-FFF2-40B4-BE49-F238E27FC236}">
                <a16:creationId xmlns:a16="http://schemas.microsoft.com/office/drawing/2014/main" id="{242038B7-AB0F-4521-A321-4AB2E5DD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95450"/>
            <a:ext cx="70485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20486453f0429f"/>
          <a:stretch xmlns:a="http://schemas.openxmlformats.org/drawingml/2006/main"/>
        </p:blipFill>
        <p:spPr>
          <a:xfrm xmlns:a="http://schemas.openxmlformats.org/drawingml/2006/main">
            <a:off x="3316874" y="1771650"/>
            <a:ext cx="5558253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10-title">
            <a:extLst xmlns:a="http://schemas.openxmlformats.org/drawingml/2006/main">
              <a:ext uri="{FF2B5EF4-FFF2-40B4-BE49-F238E27FC236}">
                <a16:creationId xmlns:a16="http://schemas.microsoft.com/office/drawing/2014/main" id="{E910FFAD-5E20-4DA0-BB1C-B5F94528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06 · SodaGift 리워드 확인</a:t>
            </a:r>
          </a:p>
        </p:txBody>
      </p:sp>
      <p:sp>
        <p:nvSpPr>
          <p:cNvPr id="30" name="stage-10-subtitle">
            <a:extLst xmlns:a="http://schemas.openxmlformats.org/drawingml/2006/main">
              <a:ext uri="{FF2B5EF4-FFF2-40B4-BE49-F238E27FC236}">
                <a16:creationId xmlns:a16="http://schemas.microsoft.com/office/drawing/2014/main" id="{50CA0B04-941B-4ACF-94B7-8A65C755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당첨자  ·  SodaGift LINK에서 당첨 리워드를 확인</a:t>
            </a:r>
          </a:p>
        </p:txBody>
      </p:sp>
      <p:sp>
        <p:nvSpPr>
          <p:cNvPr id="31" name="stage-10-page">
            <a:extLst xmlns:a="http://schemas.openxmlformats.org/drawingml/2006/main">
              <a:ext uri="{FF2B5EF4-FFF2-40B4-BE49-F238E27FC236}">
                <a16:creationId xmlns:a16="http://schemas.microsoft.com/office/drawing/2014/main" id="{6C1B4CFE-4B4B-4E7D-9A8F-5C4D31BC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32" name="gift-landing-frame">
            <a:extLst xmlns:a="http://schemas.openxmlformats.org/drawingml/2006/main">
              <a:ext uri="{FF2B5EF4-FFF2-40B4-BE49-F238E27FC236}">
                <a16:creationId xmlns:a16="http://schemas.microsoft.com/office/drawing/2014/main" id="{A8AA1FE2-118E-4BE1-93F7-EFA99163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12776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f731431d1447f"/>
          <a:stretch xmlns:a="http://schemas.openxmlformats.org/drawingml/2006/main"/>
        </p:blipFill>
        <p:spPr>
          <a:xfrm xmlns:a="http://schemas.openxmlformats.org/drawingml/2006/main">
            <a:off x="2101336" y="1771650"/>
            <a:ext cx="7989329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11-title">
            <a:extLst xmlns:a="http://schemas.openxmlformats.org/drawingml/2006/main">
              <a:ext uri="{FF2B5EF4-FFF2-40B4-BE49-F238E27FC236}">
                <a16:creationId xmlns:a16="http://schemas.microsoft.com/office/drawing/2014/main" id="{0003D6F7-460F-45E3-B225-A21B909F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07 · 상품 수령</a:t>
            </a:r>
          </a:p>
        </p:txBody>
      </p:sp>
      <p:sp>
        <p:nvSpPr>
          <p:cNvPr id="30" name="stage-11-subtitle">
            <a:extLst xmlns:a="http://schemas.openxmlformats.org/drawingml/2006/main">
              <a:ext uri="{FF2B5EF4-FFF2-40B4-BE49-F238E27FC236}">
                <a16:creationId xmlns:a16="http://schemas.microsoft.com/office/drawing/2014/main" id="{A0105B20-DF40-4BDE-B338-567A94CE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당첨자  ·  선택한 상품의 바코드와 사용 정보를 확인</a:t>
            </a:r>
          </a:p>
        </p:txBody>
      </p:sp>
      <p:sp>
        <p:nvSpPr>
          <p:cNvPr id="31" name="stage-11-page">
            <a:extLst xmlns:a="http://schemas.openxmlformats.org/drawingml/2006/main">
              <a:ext uri="{FF2B5EF4-FFF2-40B4-BE49-F238E27FC236}">
                <a16:creationId xmlns:a16="http://schemas.microsoft.com/office/drawing/2014/main" id="{91D4252E-47B7-45B7-8F67-1B71764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32" name="gift-barcode-frame">
            <a:extLst xmlns:a="http://schemas.openxmlformats.org/drawingml/2006/main">
              <a:ext uri="{FF2B5EF4-FFF2-40B4-BE49-F238E27FC236}">
                <a16:creationId xmlns:a16="http://schemas.microsoft.com/office/drawing/2014/main" id="{82E23799-2DB1-41EC-874D-3CD2ACD6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95450"/>
            <a:ext cx="70485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cb03cb80e0452d"/>
          <a:stretch xmlns:a="http://schemas.openxmlformats.org/drawingml/2006/main"/>
        </p:blipFill>
        <p:spPr>
          <a:xfrm xmlns:a="http://schemas.openxmlformats.org/drawingml/2006/main">
            <a:off x="3362952" y="1771650"/>
            <a:ext cx="5466096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7B61B-AEF3-4E37-A16A-01CF1D86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31F40-28CD-48B6-8873-1062E8BD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DCBF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FF9AD-541D-4272-8EE5-176504A4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143250" cy="3143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0BBAF-E0DD-4721-9C61-0378F8A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24150"/>
            <a:ext cx="20002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E30F-34ED-45BD-90C5-3ED79D2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48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0BDA7-EF12-4E84-9735-D5BCA15A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04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FBE6D-B798-4E35-9D55-406C129B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29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DROP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4D87F-492E-4C72-BDAE-1A44A91A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9540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LIVE 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E321B-325A-4818-B672-40B28DA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6000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지금부터 실제 흐름을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직접 보여드리겠습니다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8C542-D17F-448B-B0E4-8FD8D08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Twitch 로그인 → 이벤트 참여 → 추첨 → SodaGift LINK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17FBD-B1D3-4F1B-917A-0382757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5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StreamDrop · Team 5</a:t>
            </a:r>
          </a:p>
        </p:txBody>
      </p:sp>
    </p:spTree>
    <p:extLst>
      <p:ext uri="{BB962C8B-B14F-4D97-AF65-F5344CB8AC3E}">
        <p14:creationId xmlns:p14="http://schemas.microsoft.com/office/powerpoint/2010/main" val="13776194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F615A8-EAB6-4FDE-8DD0-9558B54B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4CB5A32-4795-49FA-A4B7-38DD172B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Twitch 한계는 우회하고, AI 추천으로 다음 기회를 만든다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B8FE8-EB6F-40FE-9F30-F0C591AB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BCEAF-FF93-46AE-B409-D1DC9C67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4355A-7F3F-4C97-8766-FEABAC1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0CFB8-CDCA-4DBF-B289-5C219686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204 응답 ≠ 실제 수신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7A070-39DB-46A3-83A7-A62124B0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5E4D2-A12E-4344-8D91-A91522FC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외부 LINK는 silent drop 가능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5A653-1373-49C9-9513-5C027A5D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809078-3E9B-4665-8C42-A667DE48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배달 확인 API가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392E0-8605-4647-A0D1-4B584DD8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522013-BF92-41B3-98B7-FD496166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40EC24-B820-436F-9256-BB8DF104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DB12A-BEF5-49F0-A358-8F1B17D2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58FE1-BA90-41E0-89B1-FFAB1C4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88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C45519-3AD7-479D-B656-B3A46C38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AI NEXT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79152B-70F4-48A0-8E92-67FFAC61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19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40808-5738-4C30-8269-7AC257B9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431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팔로우 채널·국가를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A3A958-88D5-4810-9760-F5DFFFBE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C17961-F2C6-4A2C-8B11-1D30E1A3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9560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Claude로 상품 Top 3 추천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42C06D-669B-4488-916E-7660514B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24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52A182-6C43-4716-BA77-C049893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480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낙첨자를 후속 구매로 전환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9C1553-8B42-4AC6-83FC-64D09BBB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7670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FB4A4-4454-4656-B90E-6F9C08DF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0050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D01789-2B99-41CC-BA8E-D341C92C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2915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D896A3-8B7D-4129-8029-87959065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5529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B92413-BFAF-45E3-802D-E90A0A1D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귓속말은 보조 경로, AI 추천은 다음 구매 기회로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0217173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5852E2-756D-44C5-B2D1-38E242A3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2E771DDC-5D8A-4698-816A-6925E8CD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라이브 이벤트와 AI 추천이 SodaGift의 반복 주문을 만든다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D5CC4-9866-4962-B4B6-3818C58E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9A56A-C083-4E93-924E-1B707C49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9ABD1-3F45-4960-B18E-1A6A0F89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브랜드·주최자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E6087-EEF1-4E80-81EA-D907080D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당첨 전 · 캠페인 준비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D9816-7867-4F4E-BDF8-0A7C94F8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7487E-4C29-4C4E-8BD7-0FE986E6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E9EE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D5281-D1C0-4BFA-98EE-6D940BFF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방송 스트리밍 (Twitch)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1EC9C-408A-4DF9-8B2A-5A249A38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당첨 전 · 실시간 참여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12E11-8689-449C-A138-F9FE1B5F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36965-B2AD-4E75-B1FD-6B1358D2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2F9BE-C519-41F1-A72B-D81F9FE6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5DD6A-1459-423B-9895-C2A0C022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 순간 · 추첨 확정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31F0AE-5020-432D-B2EB-A0A538DE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71FBF9-09D7-4EC0-B3CF-D043D88B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5D86"/>
          </a:solidFill>
          <a:ln xmlns:a="http://schemas.openxmlformats.org/drawingml/2006/main" w="0">
            <a:solidFill>
              <a:srgbClr val="EC5D8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836E9-E168-4192-8926-A25363D4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60E62-D4CB-4002-91B7-B8BA7C33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당첨 후 · LINK 발급·수령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BEF1C-40AE-4DF7-B8FE-CB00327B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48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시장 가치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FBB04B-28F0-4AFD-8A9D-D425C14E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• 글로벌 팬 참여를 국경 없는 구매 여정으로 전환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0F49F6-279C-49DC-A546-893406AC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5143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• K-CON·게임 출시·팬미팅·스포츠 라이브로 확장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• 참여·국가·상품 데이터를 재구매 자산으로 축적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6B842-3E23-4384-9738-C301F150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67150"/>
            <a:ext cx="0" cy="152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DDC584-6E95-41BE-8D30-2B62DCFC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48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수익 창출 기대효과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74EE57-CA26-46AD-9719-6D76728B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48150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• 캠페인 운영 이용료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• 경품·후속 주문 수수료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• AI 추천으로 반복 구매·고객가치(LTV) 확대</a:t>
            </a:r>
          </a:p>
        </p:txBody>
      </p:sp>
    </p:spTree>
    <p:extLst>
      <p:ext uri="{BB962C8B-B14F-4D97-AF65-F5344CB8AC3E}">
        <p14:creationId xmlns:p14="http://schemas.microsoft.com/office/powerpoint/2010/main" val="19145036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A3702-63BE-47E6-BF32-898DF300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0425055D-11B1-4B87-8471-D48F2450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838977-11E4-4E80-88C0-005846B2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746E8-F187-418B-8771-92762AF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76400"/>
            <a:ext cx="112776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4B4E0-3281-487B-86B2-B51AA424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47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“당첨의 순간을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전 세계 팬의 선물로 연결합니다.”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D0404-8FB8-44E4-99B8-58331D82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5725D-8B93-4F0A-87DE-EC000B40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Twitch·OBS로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실시간 참여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A8A56-F282-4068-AC6A-8F7E62E1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188E0-1054-4BFC-BB41-055FC7B5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국가 선택으로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글로벌 지급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E2758C-11EA-441A-B06C-14E4EC83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F0E4F-FEC4-48FB-8523-86E2F55E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당첨자 승인 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개인 LINK 발급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36E79-6EF6-4EEB-B6A7-B3159F25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B75BB7-E843-4808-8066-79110667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반복 이벤트가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SodaGift 주문으로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0C1CB-4B82-419C-8918-32D48A1B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 × SodaGift — 글로벌 팬 리워드의 가장 짧은 경로</a:t>
            </a:r>
          </a:p>
        </p:txBody>
      </p:sp>
    </p:spTree>
    <p:extLst>
      <p:ext uri="{BB962C8B-B14F-4D97-AF65-F5344CB8AC3E}">
        <p14:creationId xmlns:p14="http://schemas.microsoft.com/office/powerpoint/2010/main" val="9004982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2026-08-30T20:40:29.9800000Z</dcterms:created>
  <dcterms:modified xsi:type="dcterms:W3CDTF">2026-08-30T20:40:29.9800000Z</dcterms:modified>
</coreProperties>
</file>