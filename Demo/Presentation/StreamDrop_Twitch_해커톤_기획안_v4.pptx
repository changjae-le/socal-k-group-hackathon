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2a23fcfbbd24362" /><Relationship Type="http://schemas.openxmlformats.org/officeDocument/2006/relationships/extended-properties" Target="/docProps/app.xml" Id="R38419902c92f417b" /><Relationship Type="http://schemas.openxmlformats.org/officeDocument/2006/relationships/officeDocument" Target="/ppt/presentation.xml" Id="R526aa4dbcd76439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dd9160fc6b64966"/>
  </p:sldMasterIdLst>
  <p:notesMasterIdLst>
    <p:notesMasterId xmlns:r="http://schemas.openxmlformats.org/officeDocument/2006/relationships" r:id="Ra82a4abed0f14fd7"/>
  </p:notesMasterIdLst>
  <p:sldIdLst>
    <p:sldId xmlns:r="http://schemas.openxmlformats.org/officeDocument/2006/relationships" id="256" r:id="Rdc5335feb75147b5"/>
    <p:sldId xmlns:r="http://schemas.openxmlformats.org/officeDocument/2006/relationships" id="257" r:id="Rb46ce49ffa384168"/>
    <p:sldId xmlns:r="http://schemas.openxmlformats.org/officeDocument/2006/relationships" id="258" r:id="R31bf4d51636247a8"/>
    <p:sldId xmlns:r="http://schemas.openxmlformats.org/officeDocument/2006/relationships" id="259" r:id="R3178aafc76c14b6a"/>
    <p:sldId xmlns:r="http://schemas.openxmlformats.org/officeDocument/2006/relationships" id="260" r:id="R65154064b95440ba"/>
    <p:sldId xmlns:r="http://schemas.openxmlformats.org/officeDocument/2006/relationships" id="261" r:id="R8df6cd4821f941a1"/>
    <p:sldId xmlns:r="http://schemas.openxmlformats.org/officeDocument/2006/relationships" id="262" r:id="R0e63c386518a4d56"/>
    <p:sldId xmlns:r="http://schemas.openxmlformats.org/officeDocument/2006/relationships" id="263" r:id="R0849018d470845ba"/>
    <p:sldId xmlns:r="http://schemas.openxmlformats.org/officeDocument/2006/relationships" id="264" r:id="Rd1416814568241d7"/>
    <p:sldId xmlns:r="http://schemas.openxmlformats.org/officeDocument/2006/relationships" id="265" r:id="R900bb63551b14c0b"/>
    <p:sldId xmlns:r="http://schemas.openxmlformats.org/officeDocument/2006/relationships" id="266" r:id="Rd16c9204992d4f5b"/>
    <p:sldId xmlns:r="http://schemas.openxmlformats.org/officeDocument/2006/relationships" id="267" r:id="R73e935b320754a33"/>
    <p:sldId xmlns:r="http://schemas.openxmlformats.org/officeDocument/2006/relationships" id="268" r:id="R9faab8ebd486456f"/>
    <p:sldId xmlns:r="http://schemas.openxmlformats.org/officeDocument/2006/relationships" id="269" r:id="R7c2c7993c1b14dff"/>
    <p:sldId xmlns:r="http://schemas.openxmlformats.org/officeDocument/2006/relationships" id="270" r:id="R8d8253801dd24ba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54ca539a6db40a1" /><Relationship Type="http://schemas.openxmlformats.org/officeDocument/2006/relationships/slideMaster" Target="/ppt/slideMasters/slideMaster1.xml" Id="R1dd9160fc6b64966" /><Relationship Type="http://schemas.openxmlformats.org/officeDocument/2006/relationships/notesMaster" Target="/ppt/notesMasters/notesMaster1.xml" Id="Ra82a4abed0f14fd7" /><Relationship Type="http://schemas.openxmlformats.org/officeDocument/2006/relationships/presProps" Target="/ppt/presProps.xml" Id="R2f1eb28ba2354879" /><Relationship Type="http://schemas.openxmlformats.org/officeDocument/2006/relationships/tableStyles" Target="/ppt/tableStyles.xml" Id="R9af19b690c3342d8" /><Relationship Type="http://schemas.openxmlformats.org/officeDocument/2006/relationships/slide" Target="/ppt/slides/slide1.xml" Id="Rdc5335feb75147b5" /><Relationship Type="http://schemas.openxmlformats.org/officeDocument/2006/relationships/slide" Target="/ppt/slides/slide2.xml" Id="Rb46ce49ffa384168" /><Relationship Type="http://schemas.openxmlformats.org/officeDocument/2006/relationships/slide" Target="/ppt/slides/slide3.xml" Id="R31bf4d51636247a8" /><Relationship Type="http://schemas.openxmlformats.org/officeDocument/2006/relationships/slide" Target="/ppt/slides/slide4.xml" Id="R3178aafc76c14b6a" /><Relationship Type="http://schemas.openxmlformats.org/officeDocument/2006/relationships/slide" Target="/ppt/slides/slide5.xml" Id="R65154064b95440ba" /><Relationship Type="http://schemas.openxmlformats.org/officeDocument/2006/relationships/slide" Target="/ppt/slides/slide6.xml" Id="R8df6cd4821f941a1" /><Relationship Type="http://schemas.openxmlformats.org/officeDocument/2006/relationships/slide" Target="/ppt/slides/slide7.xml" Id="R0e63c386518a4d56" /><Relationship Type="http://schemas.openxmlformats.org/officeDocument/2006/relationships/slide" Target="/ppt/slides/slide8.xml" Id="R0849018d470845ba" /><Relationship Type="http://schemas.openxmlformats.org/officeDocument/2006/relationships/slide" Target="/ppt/slides/slide9.xml" Id="Rd1416814568241d7" /><Relationship Type="http://schemas.openxmlformats.org/officeDocument/2006/relationships/slide" Target="/ppt/slides/slide10.xml" Id="R900bb63551b14c0b" /><Relationship Type="http://schemas.openxmlformats.org/officeDocument/2006/relationships/slide" Target="/ppt/slides/slide11.xml" Id="Rd16c9204992d4f5b" /><Relationship Type="http://schemas.openxmlformats.org/officeDocument/2006/relationships/slide" Target="/ppt/slides/slide12.xml" Id="R73e935b320754a33" /><Relationship Type="http://schemas.openxmlformats.org/officeDocument/2006/relationships/slide" Target="/ppt/slides/slide13.xml" Id="R9faab8ebd486456f" /><Relationship Type="http://schemas.openxmlformats.org/officeDocument/2006/relationships/slide" Target="/ppt/slides/slide14.xml" Id="R7c2c7993c1b14dff" /><Relationship Type="http://schemas.openxmlformats.org/officeDocument/2006/relationships/slide" Target="/ppt/slides/slide15.xml" Id="R8d8253801dd24ba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1fd275a10d5408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b608b9e57d24fb4" /><Relationship Type="http://schemas.openxmlformats.org/officeDocument/2006/relationships/notesMaster" Target="/ppt/notesMasters/notesMaster1.xml" Id="R2d6c358ab60f4fd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55e7c3e3db6436f" /><Relationship Type="http://schemas.openxmlformats.org/officeDocument/2006/relationships/notesMaster" Target="/ppt/notesMasters/notesMaster1.xml" Id="R21610ebae82146f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52b5ccd3e2a4bd2" /><Relationship Type="http://schemas.openxmlformats.org/officeDocument/2006/relationships/notesMaster" Target="/ppt/notesMasters/notesMaster1.xml" Id="Raa9304d386a24ec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c6d95edb16544b4" /><Relationship Type="http://schemas.openxmlformats.org/officeDocument/2006/relationships/notesMaster" Target="/ppt/notesMasters/notesMaster1.xml" Id="R65cbb6c463f74e1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8fe5ff4774347e8" /><Relationship Type="http://schemas.openxmlformats.org/officeDocument/2006/relationships/notesMaster" Target="/ppt/notesMasters/notesMaster1.xml" Id="R2a784799fda2441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3869eef313b4c9c" /><Relationship Type="http://schemas.openxmlformats.org/officeDocument/2006/relationships/notesMaster" Target="/ppt/notesMasters/notesMaster1.xml" Id="R29d70026596444d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b43aaea73364fa1" /><Relationship Type="http://schemas.openxmlformats.org/officeDocument/2006/relationships/notesMaster" Target="/ppt/notesMasters/notesMaster1.xml" Id="R4d9d7237713e470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d2e7c49d2ee4e52" /><Relationship Type="http://schemas.openxmlformats.org/officeDocument/2006/relationships/notesMaster" Target="/ppt/notesMasters/notesMaster1.xml" Id="Rc900220d001747c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0b2f37dbaa444fb" /><Relationship Type="http://schemas.openxmlformats.org/officeDocument/2006/relationships/notesMaster" Target="/ppt/notesMasters/notesMaster1.xml" Id="R7f1211267c2e45f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feb8bde56844fb4" /><Relationship Type="http://schemas.openxmlformats.org/officeDocument/2006/relationships/notesMaster" Target="/ppt/notesMasters/notesMaster1.xml" Id="R969cb58a4f7e4a2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ce55585ba9c487c" /><Relationship Type="http://schemas.openxmlformats.org/officeDocument/2006/relationships/notesMaster" Target="/ppt/notesMasters/notesMaster1.xml" Id="Rdcef80af4b9d4ab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7bd1562766f46d2" /><Relationship Type="http://schemas.openxmlformats.org/officeDocument/2006/relationships/notesMaster" Target="/ppt/notesMasters/notesMaster1.xml" Id="R0f66835914d7448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c1c14a80762411f" /><Relationship Type="http://schemas.openxmlformats.org/officeDocument/2006/relationships/notesMaster" Target="/ppt/notesMasters/notesMaster1.xml" Id="R50c97d2825284b5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ae1641d715b4460" /><Relationship Type="http://schemas.openxmlformats.org/officeDocument/2006/relationships/notesMaster" Target="/ppt/notesMasters/notesMaster1.xml" Id="Rc389e20153a04a5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611001dcf5a49ae" /><Relationship Type="http://schemas.openxmlformats.org/officeDocument/2006/relationships/notesMaster" Target="/ppt/notesMasters/notesMaster1.xml" Id="R7f709d58f26748e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[Presenter Guide]</a:t>
            </a:r>
          </a:p>
          <a:p xmlns:a="http://schemas.openxmlformats.org/drawingml/2006/main">
            <a:r>
              <a:t>00:00–00:10 (10초)</a:t>
            </a:r>
          </a:p>
          <a:p xmlns:a="http://schemas.openxmlformats.org/drawingml/2006/main">
            <a:r>
              <a:t>한 문장: 글로벌 라이브 당첨을 국가별 SodaGift 수령까지 연결한 StreamDrop입니다.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implementation: https://github.com/Changjae-LE/socal-k-group-hackathon/tree/feature/TEAM5-sodagift-LINK-test</a:t>
            </a:r>
          </a:p>
          <a:p xmlns:a="http://schemas.openxmlformats.org/drawingml/2006/main">
            <a:r>
              <a:t>- SodaGift overview: https://sodagift.com/ko/about-us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[Presenter Guide]</a:t>
            </a:r>
          </a:p>
          <a:p xmlns:a="http://schemas.openxmlformats.org/drawingml/2006/main">
            <a:r>
              <a:t>00:10–00:25 (15초)</a:t>
            </a:r>
          </a:p>
          <a:p xmlns:a="http://schemas.openxmlformats.org/drawingml/2006/main">
            <a:r>
              <a:t>네 명의 이름만 빠르게 소개하고 역할 설명은 생략합니다.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Team member names supplied by Team 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[Presenter Guide]</a:t>
            </a:r>
          </a:p>
          <a:p xmlns:a="http://schemas.openxmlformats.org/drawingml/2006/main">
            <a:r>
              <a:t>00:25–01:10 (45초)</a:t>
            </a:r>
          </a:p>
          <a:p xmlns:a="http://schemas.openxmlformats.org/drawingml/2006/main">
            <a:r>
              <a:t>팀 논의에서 확인한 채택 이유는 국가 장벽, 라이브 즉시성, SodaGift LINK 적합성입니다.</a:t>
            </a:r>
          </a:p>
          <a:p xmlns:a="http://schemas.openxmlformats.org/drawingml/2006/main">
            <a:r>
              <a:t>세 가지를 동시에 보여주면서 하루 안에 시연할 수 있는 StreamDrop을 선택했습니다.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Idea adoption rationale based on Team 5 product discussion.</a:t>
            </a:r>
          </a:p>
          <a:p xmlns:a="http://schemas.openxmlformats.org/drawingml/2006/main">
            <a:r>
              <a:t>- SodaGift API introduction: https://kr-bizsodagift-docs.readme.io/docs/introduction</a:t>
            </a:r>
          </a:p>
          <a:p xmlns:a="http://schemas.openxmlformats.org/drawingml/2006/main">
            <a:r>
              <a:t>- SodaGift company overview: https://sodagift.com/ko/about-us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[Presenter Guide]</a:t>
            </a:r>
          </a:p>
          <a:p xmlns:a="http://schemas.openxmlformats.org/drawingml/2006/main">
            <a:r>
              <a:t>01:10–02:20 (70초)</a:t>
            </a:r>
          </a:p>
          <a:p xmlns:a="http://schemas.openxmlformats.org/drawingml/2006/main">
            <a:r>
              <a:t>Streaming은 Twitch OAuth와 OBS Browser Source, StreamDrop은 운영·참여·추첨 흐름을 담당합니다.</a:t>
            </a:r>
          </a:p>
          <a:p xmlns:a="http://schemas.openxmlformats.org/drawingml/2006/main">
            <a:r>
              <a:t>Firebase는 실시간 상태를 동기화하고 SodaGift는 당첨자 요청 뒤 LINK URL을 반환하며, API 키는 서버 측 경계에만 둡니다.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Current implementation: https://github.com/Changjae-LE/socal-k-group-hackathon/tree/feature/TEAM5-sodagift-LINK-test</a:t>
            </a:r>
          </a:p>
          <a:p xmlns:a="http://schemas.openxmlformats.org/drawingml/2006/main">
            <a:r>
              <a:t>- SodaGift order lifecycle: https://kr-bizsodagift-docs.readme.io/docs/order-lifecycle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[Presenter Guide]</a:t>
            </a:r>
          </a:p>
          <a:p xmlns:a="http://schemas.openxmlformats.org/drawingml/2006/main">
            <a:r>
              <a:t>02:20–02:25 (5초)</a:t>
            </a:r>
          </a:p>
          <a:p xmlns:a="http://schemas.openxmlformats.org/drawingml/2006/main">
            <a:r>
              <a:t>운영자가 이벤트를 시작하면 OBS 오버레이의 QR이 활성화됩니다.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Screenshot: /Users/dexter.kim/Library/CloudStorage/OneDrive-ResMedCorp/Documents/Screenshot 2026-08-30 at 9.54.15 AM.png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[Presenter Guide]</a:t>
            </a:r>
          </a:p>
          <a:p xmlns:a="http://schemas.openxmlformats.org/drawingml/2006/main">
            <a:r>
              <a:t>02:25–02:30 (5초)</a:t>
            </a:r>
          </a:p>
          <a:p xmlns:a="http://schemas.openxmlformats.org/drawingml/2006/main">
            <a:r>
              <a:t>참가자는 QR을 스캔하고 Twitch 로그인과 국가 선택으로 참여를 등록합니다.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Screenshot: /Users/dexter.kim/Library/CloudStorage/OneDrive-ResMedCorp/Documents/Screenshot 2026-08-30 at 12.49.17 AM.png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[Presenter Guide]</a:t>
            </a:r>
          </a:p>
          <a:p xmlns:a="http://schemas.openxmlformats.org/drawingml/2006/main">
            <a:r>
              <a:t>02:30–02:35 (5초)</a:t>
            </a:r>
          </a:p>
          <a:p xmlns:a="http://schemas.openxmlformats.org/drawingml/2006/main">
            <a:r>
              <a:t>참여 완료 정보가 Firestore를 통해 운영자 콘솔에 실시간 반영됩니다.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Screenshots: /Users/dexter.kim/Library/CloudStorage/OneDrive-ResMedCorp/Documents/Screenshot 2026-08-30 at 9.57.50 AM.png; /Users/dexter.kim/Library/CloudStorage/OneDrive-ResMedCorp/Documents/Screenshot 2026-08-30 at 12.49.54 AM.png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[Presenter Guide]</a:t>
            </a:r>
          </a:p>
          <a:p xmlns:a="http://schemas.openxmlformats.org/drawingml/2006/main">
            <a:r>
              <a:t>02:35–02:40 (5초)</a:t>
            </a:r>
          </a:p>
          <a:p xmlns:a="http://schemas.openxmlformats.org/drawingml/2006/main">
            <a:r>
              <a:t>운영자가 추첨하면 OBS와 참가자 휴대폰에 당첨 결과가 동시에 표시됩니다.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Screenshots: /Users/dexter.kim/Library/CloudStorage/OneDrive-ResMedCorp/Documents/Screenshot 2026-08-30 at 9.59.05 AM.png; /Users/dexter.kim/Library/CloudStorage/OneDrive-ResMedCorp/Documents/Screenshot 2026-08-29 at 11.43.50 PM.png; /Users/dexter.kim/Library/CloudStorage/OneDrive-ResMedCorp/Documents/Screenshot 2026-08-30 at 12.52.09 AM.png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[Presenter Guide]</a:t>
            </a:r>
          </a:p>
          <a:p xmlns:a="http://schemas.openxmlformats.org/drawingml/2006/main">
            <a:r>
              <a:t>02:40–02:45 (5초)</a:t>
            </a:r>
          </a:p>
          <a:p xmlns:a="http://schemas.openxmlformats.org/drawingml/2006/main">
            <a:r>
              <a:t>StreamDrop 당첨 화면에 표시되는 선물 받기 버튼과 LINK 발급 안내를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Screenshot: /Users/dexter.kim/Library/CloudStorage/OneDrive-ResMedCorp/Documents/Screenshot 2026-08-30 at 1.21.51 PM.png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[Presenter Guide]</a:t>
            </a:r>
          </a:p>
          <a:p xmlns:a="http://schemas.openxmlformats.org/drawingml/2006/main">
            <a:r>
              <a:t>02:45–02:50 (5초)</a:t>
            </a:r>
          </a:p>
          <a:p xmlns:a="http://schemas.openxmlformats.org/drawingml/2006/main">
            <a:r>
              <a:t>발급된 SodaGift LINK에서 StreamDrop 당첨 리워드 안내를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Screenshot: /Users/dexter.kim/Library/CloudStorage/OneDrive-ResMedCorp/Documents/Screenshot 2026-08-30 at 1.21.28 PM.png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[Presenter Guide]</a:t>
            </a:r>
          </a:p>
          <a:p xmlns:a="http://schemas.openxmlformats.org/drawingml/2006/main">
            <a:r>
              <a:t>02:50–02:55 (5초)</a:t>
            </a:r>
          </a:p>
          <a:p xmlns:a="http://schemas.openxmlformats.org/drawingml/2006/main">
            <a:r>
              <a:t>당첨자가 선택한 상품의 바코드와 사용 정보를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Screenshot: /Users/dexter.kim/Library/CloudStorage/OneDrive-ResMedCorp/Documents/Screenshot 2026-08-30 at 1.21.40 PM.png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[Presenter Guide]</a:t>
            </a:r>
          </a:p>
          <a:p xmlns:a="http://schemas.openxmlformats.org/drawingml/2006/main">
            <a:r>
              <a:t>02:55–03:00 (5초) 이후 03:00–09:00 라이브 데모 (6분)</a:t>
            </a:r>
          </a:p>
          <a:p xmlns:a="http://schemas.openxmlformats.org/drawingml/2006/main">
            <a:r>
              <a:t>이제 설명을 멈추고 실제 Twitch 연동 흐름을 시연합니다.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Live demo sequence based on Team 5's implemented StreamDrop flow.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[Presenter Guide]</a:t>
            </a:r>
          </a:p>
          <a:p xmlns:a="http://schemas.openxmlformats.org/drawingml/2006/main">
            <a:r>
              <a:t>09:00–09:30 (30초)</a:t>
            </a:r>
          </a:p>
          <a:p xmlns:a="http://schemas.openxmlformats.org/drawingml/2006/main">
            <a:r>
              <a:t>귓속말의 silent drop은 직접 수령 화면으로 우회했습니다.</a:t>
            </a:r>
          </a:p>
          <a:p xmlns:a="http://schemas.openxmlformats.org/drawingml/2006/main">
            <a:r>
              <a:t>feat/ai-gift-recommendation은 낙첨자에게 국가와 Twitch 관심사 기반 Top 3를 추천합니다.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Twitch Whisper API silent-drop behavior: https://dev.twitch.tv/docs/chat/whispers/</a:t>
            </a:r>
          </a:p>
          <a:p xmlns:a="http://schemas.openxmlformats.org/drawingml/2006/main">
            <a:r>
              <a:t>- Twitch Whisper privacy settings: https://help.twitch.tv/s/article/how-to-use-whispers</a:t>
            </a:r>
          </a:p>
          <a:p xmlns:a="http://schemas.openxmlformats.org/drawingml/2006/main">
            <a:r>
              <a:t>- AI gift recommendation branch: https://github.com/Changjae-LE/socal-k-group-hackathon/tree/feat/ai-gift-recommendation</a:t>
            </a:r>
          </a:p>
          <a:p xmlns:a="http://schemas.openxmlformats.org/drawingml/2006/main">
            <a:r>
              <a:t>- Product AI implementation: raffle-app/app/services/recommend.py at commit e040c6a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[Presenter Guide]</a:t>
            </a:r>
          </a:p>
          <a:p xmlns:a="http://schemas.openxmlformats.org/drawingml/2006/main">
            <a:r>
              <a:t>09:30–10:00 (30초)</a:t>
            </a:r>
          </a:p>
          <a:p xmlns:a="http://schemas.openxmlformats.org/drawingml/2006/main">
            <a:r>
              <a:t>주최자 캠페인 이용료와 경품·후속 주문 수수료가 수익원입니다.</a:t>
            </a:r>
          </a:p>
          <a:p xmlns:a="http://schemas.openxmlformats.org/drawingml/2006/main">
            <a:r>
              <a:t>팔로우 채널·참가 국가·선택 상품을 AI가 분석해 Top 3를 추천하고, 다음 이벤트와 계속 구매를 유도합니다.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SodaGift company overview: https://sodagift.com/ko/about-us</a:t>
            </a:r>
          </a:p>
          <a:p xmlns:a="http://schemas.openxmlformats.org/drawingml/2006/main">
            <a:r>
              <a:t>- AI gift recommendation branch: https://github.com/Changjae-LE/socal-k-group-hackathon/tree/feat/ai-gift-recommendation</a:t>
            </a:r>
          </a:p>
          <a:p xmlns:a="http://schemas.openxmlformats.org/drawingml/2006/main">
            <a:r>
              <a:t>- Use cases and revenue model are Team 5 product hypotheses for the hackathon.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[Presenter Guide]</a:t>
            </a:r>
          </a:p>
          <a:p xmlns:a="http://schemas.openxmlformats.org/drawingml/2006/main">
            <a:r>
              <a:t>10:00–15:00 Q&amp;A (5분)</a:t>
            </a:r>
          </a:p>
          <a:p xmlns:a="http://schemas.openxmlformats.org/drawingml/2006/main">
            <a:r>
              <a:t>질문이 없으면 네 가지 핵심 가치 중 하나를 짚어 실제 데모와 연결합니다.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Closing summary based on Team 5 product concept and implemented demo.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a544d992bf5434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36bc62da95949ac" /><Relationship Type="http://schemas.openxmlformats.org/officeDocument/2006/relationships/slideLayout" Target="/ppt/slideLayouts/slideLayout1.xml" Id="R80d9fa5cf8124ba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0d9fa5cf8124ba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5b7e6739114450" /><Relationship Type="http://schemas.openxmlformats.org/officeDocument/2006/relationships/notesSlide" Target="/ppt/notesSlides/notesSlide1.xml" Id="Rb69edf92513d400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5aeb8cea7b4dba" /><Relationship Type="http://schemas.openxmlformats.org/officeDocument/2006/relationships/notesSlide" Target="/ppt/notesSlides/notesSlide2.xml" Id="R04be6c600290407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6aec3a01a44736" /><Relationship Type="http://schemas.openxmlformats.org/officeDocument/2006/relationships/notesSlide" Target="/ppt/notesSlides/notesSlide3.xml" Id="R00f50fb0a77648d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946c97665a443f" /><Relationship Type="http://schemas.openxmlformats.org/officeDocument/2006/relationships/notesSlide" Target="/ppt/notesSlides/notesSlide4.xml" Id="Rd7f09a8e9f43436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0805ab694a41f7" /><Relationship Type="http://schemas.openxmlformats.org/officeDocument/2006/relationships/image" Target="/ppt/media/image.png" Id="Ra66b0647e4384d73" /><Relationship Type="http://schemas.openxmlformats.org/officeDocument/2006/relationships/notesSlide" Target="/ppt/notesSlides/notesSlide5.xml" Id="Rcedeb713bc8d4c5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a46ad2df96497f" /><Relationship Type="http://schemas.openxmlformats.org/officeDocument/2006/relationships/image" Target="/ppt/media/image2.png" Id="Rcc536a3df3ef49c1" /><Relationship Type="http://schemas.openxmlformats.org/officeDocument/2006/relationships/notesSlide" Target="/ppt/notesSlides/notesSlide6.xml" Id="R8aaa751ccb874ba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8d770744294985" /><Relationship Type="http://schemas.openxmlformats.org/officeDocument/2006/relationships/image" Target="/ppt/media/image3.png" Id="R5afe3b80dcff4a38" /><Relationship Type="http://schemas.openxmlformats.org/officeDocument/2006/relationships/image" Target="/ppt/media/image4.png" Id="R2b02f001478945ae" /><Relationship Type="http://schemas.openxmlformats.org/officeDocument/2006/relationships/notesSlide" Target="/ppt/notesSlides/notesSlide7.xml" Id="R7d348a69fb394f2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47023ac39943c2" /><Relationship Type="http://schemas.openxmlformats.org/officeDocument/2006/relationships/image" Target="/ppt/media/image5.png" Id="Rc377961abf7549e4" /><Relationship Type="http://schemas.openxmlformats.org/officeDocument/2006/relationships/image" Target="/ppt/media/image6.png" Id="R4bebb8091da6435a" /><Relationship Type="http://schemas.openxmlformats.org/officeDocument/2006/relationships/image" Target="/ppt/media/image7.png" Id="Rae1c95ac315840f7" /><Relationship Type="http://schemas.openxmlformats.org/officeDocument/2006/relationships/notesSlide" Target="/ppt/notesSlides/notesSlide8.xml" Id="R1bde7e19481b45b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cd1ee612fa4340" /><Relationship Type="http://schemas.openxmlformats.org/officeDocument/2006/relationships/image" Target="/ppt/media/image8.png" Id="R4d119840918e4607" /><Relationship Type="http://schemas.openxmlformats.org/officeDocument/2006/relationships/notesSlide" Target="/ppt/notesSlides/notesSlide9.xml" Id="Ra66b1790408c4f7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9f648687464204" /><Relationship Type="http://schemas.openxmlformats.org/officeDocument/2006/relationships/image" Target="/ppt/media/image9.png" Id="R6aea0611e0414a71" /><Relationship Type="http://schemas.openxmlformats.org/officeDocument/2006/relationships/notesSlide" Target="/ppt/notesSlides/notesSlide10.xml" Id="R1afb29c3e620421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26026ca191477d" /><Relationship Type="http://schemas.openxmlformats.org/officeDocument/2006/relationships/image" Target="/ppt/media/image10.png" Id="Rda7a4c459f7940f5" /><Relationship Type="http://schemas.openxmlformats.org/officeDocument/2006/relationships/notesSlide" Target="/ppt/notesSlides/notesSlide11.xml" Id="Rd83aa61ed63644b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bd45b87a2948b6" /><Relationship Type="http://schemas.openxmlformats.org/officeDocument/2006/relationships/notesSlide" Target="/ppt/notesSlides/notesSlide12.xml" Id="Re4ad2c11e62741f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9f802fcdc241e0" /><Relationship Type="http://schemas.openxmlformats.org/officeDocument/2006/relationships/notesSlide" Target="/ppt/notesSlides/notesSlide13.xml" Id="R8a82b3a58e594de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acff1cad0748ba" /><Relationship Type="http://schemas.openxmlformats.org/officeDocument/2006/relationships/notesSlide" Target="/ppt/notesSlides/notesSlide14.xml" Id="R63eaf9589a4b416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b70588d83c40a1" /><Relationship Type="http://schemas.openxmlformats.org/officeDocument/2006/relationships/notesSlide" Target="/ppt/notesSlides/notesSlide15.xml" Id="R974caa277814445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37B61B-AEF3-4E37-A16A-01CF1D86D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34250" y="0"/>
            <a:ext cx="4857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A0A"/>
          </a:solidFill>
          <a:ln xmlns:a="http://schemas.openxmlformats.org/drawingml/2006/main" w="0">
            <a:solidFill>
              <a:srgbClr val="0A0A0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E31F40-28CD-48B6-8873-1062E8BDD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695450"/>
            <a:ext cx="2038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6DCBF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6FF9AD-541D-4272-8EE5-176504A47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152650"/>
            <a:ext cx="3143250" cy="31432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D8D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50BBAF-E0DD-4721-9C61-0378F8AE5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724150"/>
            <a:ext cx="2000250" cy="20002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DCBF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3AE30F-34ED-45BD-90C5-3ED79D2C0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4480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00BDA7-EF12-4E84-9735-D5BCA15A8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10490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LIVE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CFBE6D-B798-4E35-9D55-406C129B7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5029200"/>
            <a:ext cx="2000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DROP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54D87F-492E-4C72-BDAE-1A44A91A4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95400"/>
            <a:ext cx="619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59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54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4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StreamDrop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3E321B-325A-4818-B672-40B28DA06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00300"/>
            <a:ext cx="600075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당첨의 순간을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전 세계 팬의 선물로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B8C542-D17F-448B-B0E4-8FD8D08AC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71950"/>
            <a:ext cx="581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>Twitch × OBS × Firebase × FastAPI × SodaGift LINK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617FBD-B1D3-4F1B-917A-03827577F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5790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Global Live Reward · Team 5</a:t>
            </a:r>
          </a:p>
        </p:txBody>
      </p:sp>
    </p:spTree>
    <p:extLst>
      <p:ext uri="{BB962C8B-B14F-4D97-AF65-F5344CB8AC3E}">
        <p14:creationId xmlns:p14="http://schemas.microsoft.com/office/powerpoint/2010/main" val="137761942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ECC859-C8F4-4B31-86C9-1A75F4866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STREAMDROP</a:t>
            </a:r>
          </a:p>
        </p:txBody>
      </p:sp>
      <p:sp>
        <p:nvSpPr>
          <p:cNvPr id="2" name="slide-2-title">
            <a:extLst xmlns:a="http://schemas.openxmlformats.org/drawingml/2006/main">
              <a:ext uri="{FF2B5EF4-FFF2-40B4-BE49-F238E27FC236}">
                <a16:creationId xmlns:a16="http://schemas.microsoft.com/office/drawing/2014/main" id="{1965594B-6A83-4B5C-8520-46B4A766B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TEAM 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5040D8-B864-4490-91CF-44D5C9466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008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824068-9352-43E4-A519-26E068D6F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3355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A4A12F-998F-4527-95CF-4FA3CA9C1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809750"/>
            <a:ext cx="647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Dexter Kim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1E6981-B336-4512-AA5D-AB83B966F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2895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59A6BD-EDE6-47CA-BEC5-A70A22099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24300"/>
            <a:ext cx="49530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573F20-D745-4783-8DD6-66F5C42AB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752600"/>
            <a:ext cx="0" cy="3619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10B238-8974-4683-9984-7C0B377FB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790700"/>
            <a:ext cx="495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62182D-B5E5-4483-B27E-06E9A3D12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743200"/>
            <a:ext cx="647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Christian Lee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98A3CC-32F7-4F0D-9EBB-A73A22055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171700"/>
            <a:ext cx="400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611603-D4A8-4394-A3A9-C5956165C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028950"/>
            <a:ext cx="495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56D1EC-8048-4FEA-82F6-460176149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676650"/>
            <a:ext cx="647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이창재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CC4C07-0CB4-4D3C-8956-23139D75F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409950"/>
            <a:ext cx="400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66A498-DDDE-4B20-81EC-28784CD66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267200"/>
            <a:ext cx="495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27DB6D-AFC9-46F7-BD51-212574A3B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610100"/>
            <a:ext cx="647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최재원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952A9E-817D-412B-B6E5-FC8589E5F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648200"/>
            <a:ext cx="400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03007592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0AD1BC-0FC0-41FA-B1CF-783C905AF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STREAMDROP</a:t>
            </a:r>
          </a:p>
        </p:txBody>
      </p:sp>
      <p:sp>
        <p:nvSpPr>
          <p:cNvPr id="2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D66279F6-5071-4199-9354-57DECE1B8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선택한 이유는 글로벌·실시간·SodaGift였다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5704AD-AAC0-4D74-980D-ECFFC3C21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008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E563FC-2211-4011-BCFC-86593BD53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1733550"/>
            <a:ext cx="3352800" cy="3695700"/>
          </a:xfrm>
          <a:prstGeom xmlns:a="http://schemas.openxmlformats.org/drawingml/2006/main" prst="roundRect">
            <a:avLst>
              <a:gd name="adj" fmla="val 2273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0">
            <a:solidFill>
              <a:srgbClr val="F5F7F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D37F45-6564-4367-B20C-373D6048D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81200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GLOBAL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C5F05A-0DE3-4490-8C37-8746E6A72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00300"/>
            <a:ext cx="2819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국가 장벽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17DC22-1B2D-4525-A477-2B69BEA50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24200"/>
            <a:ext cx="28194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>전 세계 팬은 한 방송에 모이지만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>상품·통화·사용 조건은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>국가마다 다르다.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91EE74-E40E-4BE0-A29C-DDFCB2FE3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67200" y="1733550"/>
            <a:ext cx="3352800" cy="3695700"/>
          </a:xfrm>
          <a:prstGeom xmlns:a="http://schemas.openxmlformats.org/drawingml/2006/main" prst="roundRect">
            <a:avLst>
              <a:gd name="adj" fmla="val 2273"/>
            </a:avLst>
          </a:prstGeom>
          <a:solidFill xmlns:a="http://schemas.openxmlformats.org/drawingml/2006/main">
            <a:srgbClr val="0A0A0A"/>
          </a:solidFill>
          <a:ln xmlns:a="http://schemas.openxmlformats.org/drawingml/2006/main" w="0">
            <a:solidFill>
              <a:srgbClr val="0A0A0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C3C1C5-F1FB-4EA6-88AD-F37B3C860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981200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6DCBF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6DCBF4"/>
                </a:solidFill>
                <a:latin typeface="Apple SD Gothic Neo"/>
                <a:ea typeface="Apple SD Gothic Neo"/>
                <a:cs typeface="Apple SD Gothic Neo"/>
              </a:rPr>
              <a:t>LIVE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A41CB1-549B-4EBA-AA63-A58CD02CB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400300"/>
            <a:ext cx="2819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당첨 즉시성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8AC72D-569A-4CC0-BBDB-1DA04681E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124200"/>
            <a:ext cx="28194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75" b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라이브의 흥분이 식기 전에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75" b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당첨자가 바로 선물을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75" b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확인해야 한다.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66B77D-3080-4243-9C05-26C60B668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77200" y="1733550"/>
            <a:ext cx="3352800" cy="3695700"/>
          </a:xfrm>
          <a:prstGeom xmlns:a="http://schemas.openxmlformats.org/drawingml/2006/main" prst="roundRect">
            <a:avLst>
              <a:gd name="adj" fmla="val 2273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0">
            <a:solidFill>
              <a:srgbClr val="F5F7F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00661A-6BA1-41E6-8A0B-F9BA654B0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981200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SODAGIFT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52B1FB-1B7A-4F47-8841-045A1592B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400300"/>
            <a:ext cx="2819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LINK 전달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2049095-8002-4B32-99D6-EE38EEB9C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124200"/>
            <a:ext cx="28194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>배송·주소 수집 없이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>국가에 맞는 SodaGift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>수령 경험으로 연결한다.</a:t>
            </a:r>
          </a:p>
        </p:txBody>
      </p:sp>
    </p:spTree>
    <p:extLst>
      <p:ext uri="{BB962C8B-B14F-4D97-AF65-F5344CB8AC3E}">
        <p14:creationId xmlns:p14="http://schemas.microsoft.com/office/powerpoint/2010/main" val="65348365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CF12E4B-B87B-4423-8D70-6434C1C62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STREAMDROP</a:t>
            </a:r>
          </a:p>
        </p:txBody>
      </p:sp>
      <p:sp>
        <p:nvSpPr>
          <p:cNvPr id="2" name="slide-10-title">
            <a:extLst xmlns:a="http://schemas.openxmlformats.org/drawingml/2006/main">
              <a:ext uri="{FF2B5EF4-FFF2-40B4-BE49-F238E27FC236}">
                <a16:creationId xmlns:a16="http://schemas.microsoft.com/office/drawing/2014/main" id="{FC4E55D1-3D1D-4650-B719-114E32DE3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시스템 구성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2E406C-2E8C-47A6-98DD-E1AD575C8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008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A84CCC-6B5C-410D-B007-F5C987C21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067050"/>
            <a:ext cx="685800" cy="457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EE394E-B93B-4455-AA15-C9A0CF600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305050"/>
            <a:ext cx="457200" cy="400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↓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CBB36C-70E5-4107-B62D-7D5E29D17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067050"/>
            <a:ext cx="495300" cy="457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73BBAC-DB98-4F52-A074-4C555E16E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305050"/>
            <a:ext cx="457200" cy="400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↑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749D53-5645-49F7-85B5-67B697163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0BD136-11AB-4044-A5FD-3EE3DF3BB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2647950"/>
            <a:ext cx="2476500" cy="13525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E4E8E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1E50B2-D3E8-4808-A7F8-62C354203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194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Streaming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18F2A8-B21B-41DB-95D3-9E4701059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19450"/>
            <a:ext cx="209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Twitch OAuth 2.0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OBS Browser Source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0BFEAE-ED03-4DEE-8F4F-D44F99884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67250" y="2647950"/>
            <a:ext cx="2857500" cy="13525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0A0A0A"/>
          </a:solidFill>
          <a:ln xmlns:a="http://schemas.openxmlformats.org/drawingml/2006/main" w="9525">
            <a:solidFill>
              <a:srgbClr val="0A0A0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059306-51FD-4750-BE10-88E493AC6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81940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StreamDrop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E4219C-EE9E-45DC-B918-6882378EB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219450"/>
            <a:ext cx="247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66D9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66D9FF"/>
                </a:solidFill>
                <a:latin typeface="Apple SD Gothic Neo"/>
                <a:ea typeface="Apple SD Gothic Neo"/>
                <a:cs typeface="Apple SD Gothic Neo"/>
              </a:rPr>
              <a:t>Admin · Join · Result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66D9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66D9FF"/>
                </a:solidFill>
                <a:latin typeface="Apple SD Gothic Neo"/>
                <a:ea typeface="Apple SD Gothic Neo"/>
                <a:cs typeface="Apple SD Gothic Neo"/>
              </a:rPr>
              <a:t>Raffle + LINK orchestration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B42014-3637-42FB-BBB2-87765375E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67250" y="1352550"/>
            <a:ext cx="28575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AE558D-0544-4093-8ED4-127A965F5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52400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Firebase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0C57C8-F76C-483E-B38F-7DF1CC422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924050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E7F0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E7F0FF"/>
                </a:solidFill>
                <a:latin typeface="Apple SD Gothic Neo"/>
                <a:ea typeface="Apple SD Gothic Neo"/>
                <a:cs typeface="Apple SD Gothic Neo"/>
              </a:rPr>
              <a:t>Hosting · Firestore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E7F0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E7F0FF"/>
                </a:solidFill>
                <a:latin typeface="Apple SD Gothic Neo"/>
                <a:ea typeface="Apple SD Gothic Neo"/>
                <a:cs typeface="Apple SD Gothic Neo"/>
              </a:rPr>
              <a:t>Realtime state store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6F55440-29E0-496C-8784-50D4F7DF5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82050" y="2647950"/>
            <a:ext cx="2476500" cy="13525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EC5D86"/>
          </a:solidFill>
          <a:ln xmlns:a="http://schemas.openxmlformats.org/drawingml/2006/main" w="9525">
            <a:solidFill>
              <a:srgbClr val="EC5D8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7D9DAD-BFB1-4E8B-8CC9-FB6AF6611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8194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SodaGift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3ABBAF9-8E48-4F18-8874-20870125A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219450"/>
            <a:ext cx="209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D7E8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D7E8FF"/>
                </a:solidFill>
                <a:latin typeface="Apple SD Gothic Neo"/>
                <a:ea typeface="Apple SD Gothic Neo"/>
                <a:cs typeface="Apple SD Gothic Neo"/>
              </a:rPr>
              <a:t>LINK Order API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D7E8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D7E8FF"/>
                </a:solidFill>
                <a:latin typeface="Apple SD Gothic Neo"/>
                <a:ea typeface="Apple SD Gothic Neo"/>
                <a:cs typeface="Apple SD Gothic Neo"/>
              </a:rPr>
              <a:t>상품 선택 · 주문 완료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7A32067-C855-43B3-9B45-4AAC59A8E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4324350"/>
            <a:ext cx="5238750" cy="8382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CFE0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4D5AD21-8203-4BAE-9F63-81D73F81A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457700"/>
            <a:ext cx="4743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2D79E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2D79E6"/>
                </a:solidFill>
                <a:latin typeface="Apple SD Gothic Neo"/>
                <a:ea typeface="Apple SD Gothic Neo"/>
                <a:cs typeface="Apple SD Gothic Neo"/>
              </a:rPr>
              <a:t>FIREBASE STATE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94A85EE-5FAC-405D-A038-9F3B47D66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762500"/>
            <a:ext cx="4743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405A7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405A78"/>
                </a:solidFill>
                <a:latin typeface="Apple SD Gothic Neo"/>
                <a:ea typeface="Apple SD Gothic Neo"/>
                <a:cs typeface="Apple SD Gothic Neo"/>
              </a:rPr>
              <a:t>participant · country · winner · result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0BE5EF6-0F25-4C9C-A72F-EB85DDC01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0" y="4324350"/>
            <a:ext cx="5257800" cy="8382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11182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A9C20F0-B637-44A0-B7F3-29532C9CC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457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STREAMDROP GIFT FLOW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44DFA4C-19BE-4FBE-AC78-8C568F5E7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7625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A9D6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9D6FF"/>
                </a:solidFill>
                <a:latin typeface="Apple SD Gothic Neo"/>
                <a:ea typeface="Apple SD Gothic Neo"/>
                <a:cs typeface="Apple SD Gothic Neo"/>
              </a:rPr>
              <a:t>POST /orders (LINK) → recipientUrl → Twitch whisper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894D074-798A-4EA2-BAC3-CB695FB70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14950"/>
            <a:ext cx="10496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FLOW  ① Start  →  ② QR  →  ③ Join  →  ④ Raffle  →  ⑤ Winner  →  ⑥ SodaGift LINK</a:t>
            </a:r>
          </a:p>
        </p:txBody>
      </p:sp>
    </p:spTree>
    <p:extLst>
      <p:ext uri="{BB962C8B-B14F-4D97-AF65-F5344CB8AC3E}">
        <p14:creationId xmlns:p14="http://schemas.microsoft.com/office/powerpoint/2010/main" val="9079720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14E308F-A22D-4CA9-909C-261A29C71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STREAMDROP</a:t>
            </a:r>
          </a:p>
        </p:txBody>
      </p:sp>
      <p:sp>
        <p:nvSpPr>
          <p:cNvPr id="2" name="slide-8-title">
            <a:extLst xmlns:a="http://schemas.openxmlformats.org/drawingml/2006/main">
              <a:ext uri="{FF2B5EF4-FFF2-40B4-BE49-F238E27FC236}">
                <a16:creationId xmlns:a16="http://schemas.microsoft.com/office/drawing/2014/main" id="{0FC443DD-B338-4BBE-8625-36E3C6635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B99583-F8C3-4EBE-A453-C12391725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008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6F146D-A533-4ABF-A9A3-9EAC96496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1695450"/>
            <a:ext cx="1127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ABAF41-6747-4E56-884F-78A62D69E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478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E4B587-B0E7-4563-8A88-3E7116787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8478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792A7F-7F7D-48BC-9BD3-247D219DC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478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4E8AD8-B747-4664-9D31-8DDCAAD8D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22098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455C57-85D5-43F7-B551-4D7D66E83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003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B0264D-DED6-4E51-9484-B702AF246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4003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245E9E-709E-40F4-88E7-3CEF0DEFD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4003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9D0E91-DCEC-4FF6-BE2F-13925C6BF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28956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CA56A5-86BD-422D-9CDA-35765C50E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861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E6B064-251E-40A4-A5B7-BC83788AE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0861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67538B-0566-4A4D-9226-1A5DF3C68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0861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3CD8F0-A03F-44A0-BCE5-2C5BB5F0C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35814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8A0390-B461-4C07-A32D-0135F88BD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719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67F589-BB39-45D4-A625-F82F60313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719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EF65F9-02F5-4EA2-971A-0B1E57C63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7719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67A7EB-ABCA-4A21-BE47-B18804F8A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42672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BCA309-BB4C-4C8F-B2D6-7A543C6D6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577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61023A-D2D4-4504-BA15-B721A6385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4577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17DC27-C128-4D0B-A07A-7C46F14AB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4577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6F70AB5-9B50-4FE4-A1C8-66B37E3C5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49530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1F98DF4-0127-4399-8211-DAA4A9F68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1F5604F-3F81-409C-A638-BE831D4BB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51435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A542922-440C-4440-B4BB-74FE15FCD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1435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9" name="stage-5-title">
            <a:extLst xmlns:a="http://schemas.openxmlformats.org/drawingml/2006/main">
              <a:ext uri="{FF2B5EF4-FFF2-40B4-BE49-F238E27FC236}">
                <a16:creationId xmlns:a16="http://schemas.microsoft.com/office/drawing/2014/main" id="{6E283268-E0B9-4786-90C6-A164BE862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1277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01 · 이벤트 시작</a:t>
            </a:r>
          </a:p>
        </p:txBody>
      </p:sp>
      <p:sp>
        <p:nvSpPr>
          <p:cNvPr id="30" name="stage-5-subtitle">
            <a:extLst xmlns:a="http://schemas.openxmlformats.org/drawingml/2006/main">
              <a:ext uri="{FF2B5EF4-FFF2-40B4-BE49-F238E27FC236}">
                <a16:creationId xmlns:a16="http://schemas.microsoft.com/office/drawing/2014/main" id="{B23BDDB4-5CAA-4A76-AA37-876271FD1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38250"/>
            <a:ext cx="11277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진행 주체  운영자  ·  Admin에서 이벤트를 시작하고 OBS에 QR을 노출</a:t>
            </a:r>
          </a:p>
        </p:txBody>
      </p:sp>
      <p:sp>
        <p:nvSpPr>
          <p:cNvPr id="31" name="stage-5-page">
            <a:extLst xmlns:a="http://schemas.openxmlformats.org/drawingml/2006/main">
              <a:ext uri="{FF2B5EF4-FFF2-40B4-BE49-F238E27FC236}">
                <a16:creationId xmlns:a16="http://schemas.microsoft.com/office/drawing/2014/main" id="{9A16BF56-5F9A-4EC2-BEDD-FE53743D7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008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8A2B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>
                <a:solidFill>
                  <a:srgbClr val="98A2B3"/>
                </a:solidFill>
                <a:latin typeface="Apple SD Gothic Neo"/>
                <a:ea typeface="Apple SD Gothic Neo"/>
                <a:cs typeface="Apple SD Gothic Neo"/>
              </a:rPr>
              <a:t>05</a:t>
            </a:r>
          </a:p>
        </p:txBody>
      </p:sp>
      <p:sp>
        <p:nvSpPr>
          <p:cNvPr id="32" name="event-start-admin-frame">
            <a:extLst xmlns:a="http://schemas.openxmlformats.org/drawingml/2006/main">
              <a:ext uri="{FF2B5EF4-FFF2-40B4-BE49-F238E27FC236}">
                <a16:creationId xmlns:a16="http://schemas.microsoft.com/office/drawing/2014/main" id="{92BCF4ED-F017-4EAE-9D03-72EE400A3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52600"/>
            <a:ext cx="11277600" cy="4000500"/>
          </a:xfrm>
          <a:prstGeom xmlns:a="http://schemas.openxmlformats.org/drawingml/2006/main" prst="roundRect">
            <a:avLst>
              <a:gd name="adj" fmla="val 1905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9E0E8"/>
            </a:solidFill>
            <a:prstDash val="solid"/>
          </a:ln>
        </p:spPr>
      </p:sp>
      <p:pic>
        <p:nvPicPr>
          <p:cNvPr id="6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6b0647e4384d73"/>
          <a:stretch xmlns:a="http://schemas.openxmlformats.org/drawingml/2006/main"/>
        </p:blipFill>
        <p:spPr>
          <a:xfrm xmlns:a="http://schemas.openxmlformats.org/drawingml/2006/main">
            <a:off x="1506881" y="1828800"/>
            <a:ext cx="9178239" cy="3848100"/>
          </a:xfrm>
          <a:prstGeom xmlns:a="http://schemas.openxmlformats.org/drawingml/2006/main" prst="rect">
            <a:avLst/>
          </a:prstGeom>
        </p:spPr>
      </p:pic>
      <p:sp>
        <p:nvSpPr>
          <p:cNvPr id="34" name="event-start-caption">
            <a:extLst xmlns:a="http://schemas.openxmlformats.org/drawingml/2006/main">
              <a:ext uri="{FF2B5EF4-FFF2-40B4-BE49-F238E27FC236}">
                <a16:creationId xmlns:a16="http://schemas.microsoft.com/office/drawing/2014/main" id="{2DE58E68-88DC-424C-83FC-7434E72D2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05500"/>
            <a:ext cx="11277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운영자 콘솔에서 이벤트를 시작하면 OBS 오버레이의 QR이 활성화됩니다.</a:t>
            </a:r>
          </a:p>
        </p:txBody>
      </p:sp>
    </p:spTree>
    <p:extLst>
      <p:ext uri="{BB962C8B-B14F-4D97-AF65-F5344CB8AC3E}">
        <p14:creationId xmlns:p14="http://schemas.microsoft.com/office/powerpoint/2010/main" val="189481487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14E308F-A22D-4CA9-909C-261A29C71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STREAMDROP</a:t>
            </a:r>
          </a:p>
        </p:txBody>
      </p:sp>
      <p:sp>
        <p:nvSpPr>
          <p:cNvPr id="2" name="slide-8-title">
            <a:extLst xmlns:a="http://schemas.openxmlformats.org/drawingml/2006/main">
              <a:ext uri="{FF2B5EF4-FFF2-40B4-BE49-F238E27FC236}">
                <a16:creationId xmlns:a16="http://schemas.microsoft.com/office/drawing/2014/main" id="{0FC443DD-B338-4BBE-8625-36E3C6635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B99583-F8C3-4EBE-A453-C12391725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008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6F146D-A533-4ABF-A9A3-9EAC96496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1695450"/>
            <a:ext cx="1127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ABAF41-6747-4E56-884F-78A62D69E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478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E4B587-B0E7-4563-8A88-3E7116787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8478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792A7F-7F7D-48BC-9BD3-247D219DC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478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4E8AD8-B747-4664-9D31-8DDCAAD8D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22098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455C57-85D5-43F7-B551-4D7D66E83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003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B0264D-DED6-4E51-9484-B702AF246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4003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245E9E-709E-40F4-88E7-3CEF0DEFD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4003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9D0E91-DCEC-4FF6-BE2F-13925C6BF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28956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CA56A5-86BD-422D-9CDA-35765C50E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861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E6B064-251E-40A4-A5B7-BC83788AE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0861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67538B-0566-4A4D-9226-1A5DF3C68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0861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3CD8F0-A03F-44A0-BCE5-2C5BB5F0C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35814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8A0390-B461-4C07-A32D-0135F88BD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719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67F589-BB39-45D4-A625-F82F60313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719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EF65F9-02F5-4EA2-971A-0B1E57C63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7719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67A7EB-ABCA-4A21-BE47-B18804F8A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42672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BCA309-BB4C-4C8F-B2D6-7A543C6D6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577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61023A-D2D4-4504-BA15-B721A6385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4577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17DC27-C128-4D0B-A07A-7C46F14AB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4577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6F70AB5-9B50-4FE4-A1C8-66B37E3C5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49530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1F98DF4-0127-4399-8211-DAA4A9F68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1F5604F-3F81-409C-A638-BE831D4BB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51435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A542922-440C-4440-B4BB-74FE15FCD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1435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9" name="stage-6-title">
            <a:extLst xmlns:a="http://schemas.openxmlformats.org/drawingml/2006/main">
              <a:ext uri="{FF2B5EF4-FFF2-40B4-BE49-F238E27FC236}">
                <a16:creationId xmlns:a16="http://schemas.microsoft.com/office/drawing/2014/main" id="{756776CD-BD6D-47D8-93AC-2BEA217A8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1277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02 · 참여 등록</a:t>
            </a:r>
          </a:p>
        </p:txBody>
      </p:sp>
      <p:sp>
        <p:nvSpPr>
          <p:cNvPr id="30" name="stage-6-subtitle">
            <a:extLst xmlns:a="http://schemas.openxmlformats.org/drawingml/2006/main">
              <a:ext uri="{FF2B5EF4-FFF2-40B4-BE49-F238E27FC236}">
                <a16:creationId xmlns:a16="http://schemas.microsoft.com/office/drawing/2014/main" id="{39A9AB45-9305-483D-B5D2-7499003B4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38250"/>
            <a:ext cx="11277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진행 주체  참가자  ·  QR 스캔 후 Twitch 로그인과 국가 선택</a:t>
            </a:r>
          </a:p>
        </p:txBody>
      </p:sp>
      <p:sp>
        <p:nvSpPr>
          <p:cNvPr id="31" name="stage-6-page">
            <a:extLst xmlns:a="http://schemas.openxmlformats.org/drawingml/2006/main">
              <a:ext uri="{FF2B5EF4-FFF2-40B4-BE49-F238E27FC236}">
                <a16:creationId xmlns:a16="http://schemas.microsoft.com/office/drawing/2014/main" id="{08402D60-4B8A-41D5-9D58-EB3731736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008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8A2B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>
                <a:solidFill>
                  <a:srgbClr val="98A2B3"/>
                </a:solidFill>
                <a:latin typeface="Apple SD Gothic Neo"/>
                <a:ea typeface="Apple SD Gothic Neo"/>
                <a:cs typeface="Apple SD Gothic Neo"/>
              </a:rPr>
              <a:t>06</a:t>
            </a:r>
          </a:p>
        </p:txBody>
      </p:sp>
      <p:sp>
        <p:nvSpPr>
          <p:cNvPr id="32" name="registration-overlay-frame">
            <a:extLst xmlns:a="http://schemas.openxmlformats.org/drawingml/2006/main">
              <a:ext uri="{FF2B5EF4-FFF2-40B4-BE49-F238E27FC236}">
                <a16:creationId xmlns:a16="http://schemas.microsoft.com/office/drawing/2014/main" id="{1C1C336C-06C5-4C88-B430-68D9BC7A3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1695450"/>
            <a:ext cx="8229600" cy="4457700"/>
          </a:xfrm>
          <a:prstGeom xmlns:a="http://schemas.openxmlformats.org/drawingml/2006/main" prst="roundRect">
            <a:avLst>
              <a:gd name="adj" fmla="val 1709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9E0E8"/>
            </a:solidFill>
            <a:prstDash val="solid"/>
          </a:ln>
        </p:spPr>
      </p:sp>
      <p:pic>
        <p:nvPicPr>
          <p:cNvPr id="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536a3df3ef49c1"/>
          <a:stretch xmlns:a="http://schemas.openxmlformats.org/drawingml/2006/main"/>
        </p:blipFill>
        <p:spPr>
          <a:xfrm xmlns:a="http://schemas.openxmlformats.org/drawingml/2006/main">
            <a:off x="2856903" y="1771650"/>
            <a:ext cx="6478194" cy="43053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81487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14E308F-A22D-4CA9-909C-261A29C71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STREAMDROP</a:t>
            </a:r>
          </a:p>
        </p:txBody>
      </p:sp>
      <p:sp>
        <p:nvSpPr>
          <p:cNvPr id="2" name="slide-8-title">
            <a:extLst xmlns:a="http://schemas.openxmlformats.org/drawingml/2006/main">
              <a:ext uri="{FF2B5EF4-FFF2-40B4-BE49-F238E27FC236}">
                <a16:creationId xmlns:a16="http://schemas.microsoft.com/office/drawing/2014/main" id="{0FC443DD-B338-4BBE-8625-36E3C6635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B99583-F8C3-4EBE-A453-C12391725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008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6F146D-A533-4ABF-A9A3-9EAC96496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1695450"/>
            <a:ext cx="1127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ABAF41-6747-4E56-884F-78A62D69E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478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E4B587-B0E7-4563-8A88-3E7116787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8478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792A7F-7F7D-48BC-9BD3-247D219DC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478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4E8AD8-B747-4664-9D31-8DDCAAD8D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22098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455C57-85D5-43F7-B551-4D7D66E83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003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B0264D-DED6-4E51-9484-B702AF246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4003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245E9E-709E-40F4-88E7-3CEF0DEFD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4003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9D0E91-DCEC-4FF6-BE2F-13925C6BF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28956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CA56A5-86BD-422D-9CDA-35765C50E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861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E6B064-251E-40A4-A5B7-BC83788AE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0861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67538B-0566-4A4D-9226-1A5DF3C68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0861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3CD8F0-A03F-44A0-BCE5-2C5BB5F0C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35814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8A0390-B461-4C07-A32D-0135F88BD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719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67F589-BB39-45D4-A625-F82F60313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719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EF65F9-02F5-4EA2-971A-0B1E57C63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7719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67A7EB-ABCA-4A21-BE47-B18804F8A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42672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BCA309-BB4C-4C8F-B2D6-7A543C6D6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577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61023A-D2D4-4504-BA15-B721A6385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4577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17DC27-C128-4D0B-A07A-7C46F14AB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4577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6F70AB5-9B50-4FE4-A1C8-66B37E3C5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49530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1F98DF4-0127-4399-8211-DAA4A9F68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1F5604F-3F81-409C-A638-BE831D4BB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51435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A542922-440C-4440-B4BB-74FE15FCD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1435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9" name="stage-7-title">
            <a:extLst xmlns:a="http://schemas.openxmlformats.org/drawingml/2006/main">
              <a:ext uri="{FF2B5EF4-FFF2-40B4-BE49-F238E27FC236}">
                <a16:creationId xmlns:a16="http://schemas.microsoft.com/office/drawing/2014/main" id="{E3340EFA-A188-464E-87DA-F8AA0CD5D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1277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03 · 참가 확인</a:t>
            </a:r>
          </a:p>
        </p:txBody>
      </p:sp>
      <p:sp>
        <p:nvSpPr>
          <p:cNvPr id="30" name="stage-7-subtitle">
            <a:extLst xmlns:a="http://schemas.openxmlformats.org/drawingml/2006/main">
              <a:ext uri="{FF2B5EF4-FFF2-40B4-BE49-F238E27FC236}">
                <a16:creationId xmlns:a16="http://schemas.microsoft.com/office/drawing/2014/main" id="{2D332293-CB30-4215-B357-9A2ECEB7D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38250"/>
            <a:ext cx="11277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진행 주체  참가자 → 운영자  ·  참여 완료 후 Firestore 반영 상태 확인</a:t>
            </a:r>
          </a:p>
        </p:txBody>
      </p:sp>
      <p:sp>
        <p:nvSpPr>
          <p:cNvPr id="31" name="stage-7-page">
            <a:extLst xmlns:a="http://schemas.openxmlformats.org/drawingml/2006/main">
              <a:ext uri="{FF2B5EF4-FFF2-40B4-BE49-F238E27FC236}">
                <a16:creationId xmlns:a16="http://schemas.microsoft.com/office/drawing/2014/main" id="{C662E23E-258B-42BF-83CF-CC8CFBEBB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008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8A2B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>
                <a:solidFill>
                  <a:srgbClr val="98A2B3"/>
                </a:solidFill>
                <a:latin typeface="Apple SD Gothic Neo"/>
                <a:ea typeface="Apple SD Gothic Neo"/>
                <a:cs typeface="Apple SD Gothic Neo"/>
              </a:rPr>
              <a:t>07</a:t>
            </a:r>
          </a:p>
        </p:txBody>
      </p:sp>
      <p:sp>
        <p:nvSpPr>
          <p:cNvPr id="32" name="confirmation-admin-label">
            <a:extLst xmlns:a="http://schemas.openxmlformats.org/drawingml/2006/main">
              <a:ext uri="{FF2B5EF4-FFF2-40B4-BE49-F238E27FC236}">
                <a16:creationId xmlns:a16="http://schemas.microsoft.com/office/drawing/2014/main" id="{60080329-A26C-419F-BFC0-83DBF1244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573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참여 접수 · 운영자 화면</a:t>
            </a:r>
          </a:p>
        </p:txBody>
      </p:sp>
      <p:sp>
        <p:nvSpPr>
          <p:cNvPr id="33" name="confirmation-mobile-label">
            <a:extLst xmlns:a="http://schemas.openxmlformats.org/drawingml/2006/main">
              <a:ext uri="{FF2B5EF4-FFF2-40B4-BE49-F238E27FC236}">
                <a16:creationId xmlns:a16="http://schemas.microsoft.com/office/drawing/2014/main" id="{42DBDE37-DBC6-4025-A445-53BF43825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6573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참여 완료 · 참가자 화면</a:t>
            </a:r>
          </a:p>
        </p:txBody>
      </p:sp>
      <p:sp>
        <p:nvSpPr>
          <p:cNvPr id="34" name="confirmation-admin-frame">
            <a:extLst xmlns:a="http://schemas.openxmlformats.org/drawingml/2006/main">
              <a:ext uri="{FF2B5EF4-FFF2-40B4-BE49-F238E27FC236}">
                <a16:creationId xmlns:a16="http://schemas.microsoft.com/office/drawing/2014/main" id="{49CA6908-1799-4CCA-BCAB-8BD79FAD9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81200"/>
            <a:ext cx="5334000" cy="3562350"/>
          </a:xfrm>
          <a:prstGeom xmlns:a="http://schemas.openxmlformats.org/drawingml/2006/main" prst="roundRect">
            <a:avLst>
              <a:gd name="adj" fmla="val 2139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9E0E8"/>
            </a:solidFill>
            <a:prstDash val="solid"/>
          </a:ln>
        </p:spPr>
      </p:sp>
      <p:pic>
        <p:nvPicPr>
          <p:cNvPr id="7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fe3b80dcff4a38"/>
          <a:stretch xmlns:a="http://schemas.openxmlformats.org/drawingml/2006/main"/>
        </p:blipFill>
        <p:spPr>
          <a:xfrm xmlns:a="http://schemas.openxmlformats.org/drawingml/2006/main">
            <a:off x="533400" y="2596392"/>
            <a:ext cx="5181600" cy="2331967"/>
          </a:xfrm>
          <a:prstGeom xmlns:a="http://schemas.openxmlformats.org/drawingml/2006/main" prst="rect">
            <a:avLst/>
          </a:prstGeom>
        </p:spPr>
      </p:pic>
      <p:sp>
        <p:nvSpPr>
          <p:cNvPr id="36" name="confirmation-mobile-frame">
            <a:extLst xmlns:a="http://schemas.openxmlformats.org/drawingml/2006/main">
              <a:ext uri="{FF2B5EF4-FFF2-40B4-BE49-F238E27FC236}">
                <a16:creationId xmlns:a16="http://schemas.microsoft.com/office/drawing/2014/main" id="{27AF112B-E8A6-412F-B7D4-3B9EE0B83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981200"/>
            <a:ext cx="5334000" cy="3562350"/>
          </a:xfrm>
          <a:prstGeom xmlns:a="http://schemas.openxmlformats.org/drawingml/2006/main" prst="roundRect">
            <a:avLst>
              <a:gd name="adj" fmla="val 2139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9E0E8"/>
            </a:solidFill>
            <a:prstDash val="solid"/>
          </a:ln>
        </p:spPr>
      </p:sp>
      <p:pic>
        <p:nvPicPr>
          <p:cNvPr id="7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02f001478945ae"/>
          <a:stretch xmlns:a="http://schemas.openxmlformats.org/drawingml/2006/main"/>
        </p:blipFill>
        <p:spPr>
          <a:xfrm xmlns:a="http://schemas.openxmlformats.org/drawingml/2006/main">
            <a:off x="6993350" y="2057400"/>
            <a:ext cx="4148901" cy="3409950"/>
          </a:xfrm>
          <a:prstGeom xmlns:a="http://schemas.openxmlformats.org/drawingml/2006/main" prst="rect">
            <a:avLst/>
          </a:prstGeom>
        </p:spPr>
      </p:pic>
      <p:sp>
        <p:nvSpPr>
          <p:cNvPr id="38" name="confirmation-caption">
            <a:extLst xmlns:a="http://schemas.openxmlformats.org/drawingml/2006/main">
              <a:ext uri="{FF2B5EF4-FFF2-40B4-BE49-F238E27FC236}">
                <a16:creationId xmlns:a16="http://schemas.microsoft.com/office/drawing/2014/main" id="{D3BBF08E-80BD-4D7D-A3DD-2978FA04E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34050"/>
            <a:ext cx="11277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참가자 등록 정보가 Firestore를 통해 운영자 콘솔에 실시간 반영됩니다.</a:t>
            </a:r>
          </a:p>
        </p:txBody>
      </p:sp>
    </p:spTree>
    <p:extLst>
      <p:ext uri="{BB962C8B-B14F-4D97-AF65-F5344CB8AC3E}">
        <p14:creationId xmlns:p14="http://schemas.microsoft.com/office/powerpoint/2010/main" val="189481487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14E308F-A22D-4CA9-909C-261A29C71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STREAMDROP</a:t>
            </a:r>
          </a:p>
        </p:txBody>
      </p:sp>
      <p:sp>
        <p:nvSpPr>
          <p:cNvPr id="2" name="slide-8-title">
            <a:extLst xmlns:a="http://schemas.openxmlformats.org/drawingml/2006/main">
              <a:ext uri="{FF2B5EF4-FFF2-40B4-BE49-F238E27FC236}">
                <a16:creationId xmlns:a16="http://schemas.microsoft.com/office/drawing/2014/main" id="{0FC443DD-B338-4BBE-8625-36E3C6635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B99583-F8C3-4EBE-A453-C12391725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008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6F146D-A533-4ABF-A9A3-9EAC96496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1695450"/>
            <a:ext cx="1127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ABAF41-6747-4E56-884F-78A62D69E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478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E4B587-B0E7-4563-8A88-3E7116787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8478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792A7F-7F7D-48BC-9BD3-247D219DC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478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4E8AD8-B747-4664-9D31-8DDCAAD8D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22098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455C57-85D5-43F7-B551-4D7D66E83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003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B0264D-DED6-4E51-9484-B702AF246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4003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245E9E-709E-40F4-88E7-3CEF0DEFD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4003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9D0E91-DCEC-4FF6-BE2F-13925C6BF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28956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CA56A5-86BD-422D-9CDA-35765C50E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861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E6B064-251E-40A4-A5B7-BC83788AE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0861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67538B-0566-4A4D-9226-1A5DF3C68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0861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3CD8F0-A03F-44A0-BCE5-2C5BB5F0C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35814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8A0390-B461-4C07-A32D-0135F88BD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719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67F589-BB39-45D4-A625-F82F60313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719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EF65F9-02F5-4EA2-971A-0B1E57C63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7719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67A7EB-ABCA-4A21-BE47-B18804F8A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42672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BCA309-BB4C-4C8F-B2D6-7A543C6D6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577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61023A-D2D4-4504-BA15-B721A6385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4577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17DC27-C128-4D0B-A07A-7C46F14AB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4577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6F70AB5-9B50-4FE4-A1C8-66B37E3C5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49530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1F98DF4-0127-4399-8211-DAA4A9F68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1F5604F-3F81-409C-A638-BE831D4BB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51435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A542922-440C-4440-B4BB-74FE15FCD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1435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9" name="stage-8-title">
            <a:extLst xmlns:a="http://schemas.openxmlformats.org/drawingml/2006/main">
              <a:ext uri="{FF2B5EF4-FFF2-40B4-BE49-F238E27FC236}">
                <a16:creationId xmlns:a16="http://schemas.microsoft.com/office/drawing/2014/main" id="{74974DEA-FC2B-46D6-B807-F26B935BE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1277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04 · 추첨·발표</a:t>
            </a:r>
          </a:p>
        </p:txBody>
      </p:sp>
      <p:sp>
        <p:nvSpPr>
          <p:cNvPr id="30" name="stage-8-subtitle">
            <a:extLst xmlns:a="http://schemas.openxmlformats.org/drawingml/2006/main">
              <a:ext uri="{FF2B5EF4-FFF2-40B4-BE49-F238E27FC236}">
                <a16:creationId xmlns:a16="http://schemas.microsoft.com/office/drawing/2014/main" id="{652B7E9C-FA6A-4440-B76D-265A02790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38250"/>
            <a:ext cx="11277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진행 주체  운영자 → 참가자  ·  추첨 실행, OBS 발표, 휴대폰 결과 확인</a:t>
            </a:r>
          </a:p>
        </p:txBody>
      </p:sp>
      <p:sp>
        <p:nvSpPr>
          <p:cNvPr id="31" name="stage-8-page">
            <a:extLst xmlns:a="http://schemas.openxmlformats.org/drawingml/2006/main">
              <a:ext uri="{FF2B5EF4-FFF2-40B4-BE49-F238E27FC236}">
                <a16:creationId xmlns:a16="http://schemas.microsoft.com/office/drawing/2014/main" id="{2597FCA2-642A-4E33-BB75-994D7494A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008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8A2B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>
                <a:solidFill>
                  <a:srgbClr val="98A2B3"/>
                </a:solidFill>
                <a:latin typeface="Apple SD Gothic Neo"/>
                <a:ea typeface="Apple SD Gothic Neo"/>
                <a:cs typeface="Apple SD Gothic Neo"/>
              </a:rPr>
              <a:t>08</a:t>
            </a:r>
          </a:p>
        </p:txBody>
      </p:sp>
      <p:sp>
        <p:nvSpPr>
          <p:cNvPr id="32" name="raffle-overlay-label">
            <a:extLst xmlns:a="http://schemas.openxmlformats.org/drawingml/2006/main">
              <a:ext uri="{FF2B5EF4-FFF2-40B4-BE49-F238E27FC236}">
                <a16:creationId xmlns:a16="http://schemas.microsoft.com/office/drawing/2014/main" id="{2D10DE0C-1D40-488C-A111-D2A1AE4CB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573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OBS 오버레이 · 당첨자 발표</a:t>
            </a:r>
          </a:p>
        </p:txBody>
      </p:sp>
      <p:sp>
        <p:nvSpPr>
          <p:cNvPr id="33" name="raffle-admin-label">
            <a:extLst xmlns:a="http://schemas.openxmlformats.org/drawingml/2006/main">
              <a:ext uri="{FF2B5EF4-FFF2-40B4-BE49-F238E27FC236}">
                <a16:creationId xmlns:a16="http://schemas.microsoft.com/office/drawing/2014/main" id="{A47ACCA5-E180-4128-8D63-472426E72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657350"/>
            <a:ext cx="430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운영자 콘솔 · 추첨 완료</a:t>
            </a:r>
          </a:p>
        </p:txBody>
      </p:sp>
      <p:sp>
        <p:nvSpPr>
          <p:cNvPr id="34" name="raffle-overlay-frame">
            <a:extLst xmlns:a="http://schemas.openxmlformats.org/drawingml/2006/main">
              <a:ext uri="{FF2B5EF4-FFF2-40B4-BE49-F238E27FC236}">
                <a16:creationId xmlns:a16="http://schemas.microsoft.com/office/drawing/2014/main" id="{A1FC218F-C67D-44ED-AD58-270F8407F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81200"/>
            <a:ext cx="6667500" cy="3848100"/>
          </a:xfrm>
          <a:prstGeom xmlns:a="http://schemas.openxmlformats.org/drawingml/2006/main" prst="roundRect">
            <a:avLst>
              <a:gd name="adj" fmla="val 198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9E0E8"/>
            </a:solidFill>
            <a:prstDash val="solid"/>
          </a:ln>
        </p:spPr>
      </p:sp>
      <p:pic>
        <p:nvPicPr>
          <p:cNvPr id="7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77961abf7549e4"/>
          <a:stretch xmlns:a="http://schemas.openxmlformats.org/drawingml/2006/main"/>
        </p:blipFill>
        <p:spPr>
          <a:xfrm xmlns:a="http://schemas.openxmlformats.org/drawingml/2006/main">
            <a:off x="794921" y="2057400"/>
            <a:ext cx="5992057" cy="3695700"/>
          </a:xfrm>
          <a:prstGeom xmlns:a="http://schemas.openxmlformats.org/drawingml/2006/main" prst="rect">
            <a:avLst/>
          </a:prstGeom>
        </p:spPr>
      </p:pic>
      <p:sp>
        <p:nvSpPr>
          <p:cNvPr id="36" name="raffle-admin-frame">
            <a:extLst xmlns:a="http://schemas.openxmlformats.org/drawingml/2006/main">
              <a:ext uri="{FF2B5EF4-FFF2-40B4-BE49-F238E27FC236}">
                <a16:creationId xmlns:a16="http://schemas.microsoft.com/office/drawing/2014/main" id="{CA365C78-0488-485A-927F-E38DB59FC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981200"/>
            <a:ext cx="4305300" cy="17907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9E0E8"/>
            </a:solidFill>
            <a:prstDash val="solid"/>
          </a:ln>
        </p:spPr>
      </p:sp>
      <p:pic>
        <p:nvPicPr>
          <p:cNvPr id="7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ebb8091da6435a"/>
          <a:stretch xmlns:a="http://schemas.openxmlformats.org/drawingml/2006/main"/>
        </p:blipFill>
        <p:spPr>
          <a:xfrm xmlns:a="http://schemas.openxmlformats.org/drawingml/2006/main">
            <a:off x="8122649" y="2057400"/>
            <a:ext cx="2919002" cy="1638300"/>
          </a:xfrm>
          <a:prstGeom xmlns:a="http://schemas.openxmlformats.org/drawingml/2006/main" prst="rect">
            <a:avLst/>
          </a:prstGeom>
        </p:spPr>
      </p:pic>
      <p:sp>
        <p:nvSpPr>
          <p:cNvPr id="38" name="raffle-mobile-label">
            <a:extLst xmlns:a="http://schemas.openxmlformats.org/drawingml/2006/main">
              <a:ext uri="{FF2B5EF4-FFF2-40B4-BE49-F238E27FC236}">
                <a16:creationId xmlns:a16="http://schemas.microsoft.com/office/drawing/2014/main" id="{D30F4F38-6050-4B1A-BCCB-A018375C6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886200"/>
            <a:ext cx="430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당첨자 모바일 · 결과 확인</a:t>
            </a:r>
          </a:p>
        </p:txBody>
      </p:sp>
      <p:sp>
        <p:nvSpPr>
          <p:cNvPr id="39" name="raffle-mobile-frame">
            <a:extLst xmlns:a="http://schemas.openxmlformats.org/drawingml/2006/main">
              <a:ext uri="{FF2B5EF4-FFF2-40B4-BE49-F238E27FC236}">
                <a16:creationId xmlns:a16="http://schemas.microsoft.com/office/drawing/2014/main" id="{3C2DD919-2FC7-43B4-84A0-98D3959EE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210050"/>
            <a:ext cx="43053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9E0E8"/>
            </a:solidFill>
            <a:prstDash val="solid"/>
          </a:ln>
        </p:spPr>
      </p:sp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1c95ac315840f7"/>
          <a:stretch xmlns:a="http://schemas.openxmlformats.org/drawingml/2006/main"/>
        </p:blipFill>
        <p:spPr>
          <a:xfrm xmlns:a="http://schemas.openxmlformats.org/drawingml/2006/main">
            <a:off x="8747423" y="4286250"/>
            <a:ext cx="1669454" cy="14668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81487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14E308F-A22D-4CA9-909C-261A29C71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STREAMDROP</a:t>
            </a:r>
          </a:p>
        </p:txBody>
      </p:sp>
      <p:sp>
        <p:nvSpPr>
          <p:cNvPr id="2" name="slide-8-title">
            <a:extLst xmlns:a="http://schemas.openxmlformats.org/drawingml/2006/main">
              <a:ext uri="{FF2B5EF4-FFF2-40B4-BE49-F238E27FC236}">
                <a16:creationId xmlns:a16="http://schemas.microsoft.com/office/drawing/2014/main" id="{0FC443DD-B338-4BBE-8625-36E3C6635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B99583-F8C3-4EBE-A453-C12391725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008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6F146D-A533-4ABF-A9A3-9EAC96496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1695450"/>
            <a:ext cx="1127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ABAF41-6747-4E56-884F-78A62D69E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478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E4B587-B0E7-4563-8A88-3E7116787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8478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792A7F-7F7D-48BC-9BD3-247D219DC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478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4E8AD8-B747-4664-9D31-8DDCAAD8D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22098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455C57-85D5-43F7-B551-4D7D66E83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003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B0264D-DED6-4E51-9484-B702AF246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4003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245E9E-709E-40F4-88E7-3CEF0DEFD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4003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9D0E91-DCEC-4FF6-BE2F-13925C6BF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28956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CA56A5-86BD-422D-9CDA-35765C50E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861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E6B064-251E-40A4-A5B7-BC83788AE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0861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67538B-0566-4A4D-9226-1A5DF3C68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0861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3CD8F0-A03F-44A0-BCE5-2C5BB5F0C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35814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8A0390-B461-4C07-A32D-0135F88BD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719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67F589-BB39-45D4-A625-F82F60313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719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EF65F9-02F5-4EA2-971A-0B1E57C63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7719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67A7EB-ABCA-4A21-BE47-B18804F8A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42672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BCA309-BB4C-4C8F-B2D6-7A543C6D6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577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61023A-D2D4-4504-BA15-B721A6385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4577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17DC27-C128-4D0B-A07A-7C46F14AB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4577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6F70AB5-9B50-4FE4-A1C8-66B37E3C5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49530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1F98DF4-0127-4399-8211-DAA4A9F68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1F5604F-3F81-409C-A638-BE831D4BB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51435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A542922-440C-4440-B4BB-74FE15FCD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1435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9" name="stage-9-title">
            <a:extLst xmlns:a="http://schemas.openxmlformats.org/drawingml/2006/main">
              <a:ext uri="{FF2B5EF4-FFF2-40B4-BE49-F238E27FC236}">
                <a16:creationId xmlns:a16="http://schemas.microsoft.com/office/drawing/2014/main" id="{9C67947C-1D00-4F05-A4E8-17F4440E8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1277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05 · StreamDrop 수령 화면</a:t>
            </a:r>
          </a:p>
        </p:txBody>
      </p:sp>
      <p:sp>
        <p:nvSpPr>
          <p:cNvPr id="30" name="stage-9-subtitle">
            <a:extLst xmlns:a="http://schemas.openxmlformats.org/drawingml/2006/main">
              <a:ext uri="{FF2B5EF4-FFF2-40B4-BE49-F238E27FC236}">
                <a16:creationId xmlns:a16="http://schemas.microsoft.com/office/drawing/2014/main" id="{4A65A450-65F7-4518-9B63-8447E0399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38250"/>
            <a:ext cx="11277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진행 주체  당첨자  ·  선물 받기 버튼과 SodaGift LINK 발급 안내를 확인</a:t>
            </a:r>
          </a:p>
        </p:txBody>
      </p:sp>
      <p:sp>
        <p:nvSpPr>
          <p:cNvPr id="31" name="stage-9-page">
            <a:extLst xmlns:a="http://schemas.openxmlformats.org/drawingml/2006/main">
              <a:ext uri="{FF2B5EF4-FFF2-40B4-BE49-F238E27FC236}">
                <a16:creationId xmlns:a16="http://schemas.microsoft.com/office/drawing/2014/main" id="{2EEC621C-8685-4610-AF5B-D288360E4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008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8A2B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>
                <a:solidFill>
                  <a:srgbClr val="98A2B3"/>
                </a:solidFill>
                <a:latin typeface="Apple SD Gothic Neo"/>
                <a:ea typeface="Apple SD Gothic Neo"/>
                <a:cs typeface="Apple SD Gothic Neo"/>
              </a:rPr>
              <a:t>09</a:t>
            </a:r>
          </a:p>
        </p:txBody>
      </p:sp>
      <p:sp>
        <p:nvSpPr>
          <p:cNvPr id="32" name="gift-button-frame">
            <a:extLst xmlns:a="http://schemas.openxmlformats.org/drawingml/2006/main">
              <a:ext uri="{FF2B5EF4-FFF2-40B4-BE49-F238E27FC236}">
                <a16:creationId xmlns:a16="http://schemas.microsoft.com/office/drawing/2014/main" id="{3D3D6C75-2E33-4A7F-8BA3-7816A2D67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695450"/>
            <a:ext cx="7048500" cy="4457700"/>
          </a:xfrm>
          <a:prstGeom xmlns:a="http://schemas.openxmlformats.org/drawingml/2006/main" prst="roundRect">
            <a:avLst>
              <a:gd name="adj" fmla="val 1709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9E0E8"/>
            </a:solidFill>
            <a:prstDash val="solid"/>
          </a:ln>
        </p:spPr>
      </p:sp>
      <p:pic>
        <p:nvPicPr>
          <p:cNvPr id="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119840918e4607"/>
          <a:stretch xmlns:a="http://schemas.openxmlformats.org/drawingml/2006/main"/>
        </p:blipFill>
        <p:spPr>
          <a:xfrm xmlns:a="http://schemas.openxmlformats.org/drawingml/2006/main">
            <a:off x="3316874" y="1771650"/>
            <a:ext cx="5558253" cy="43053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81487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14E308F-A22D-4CA9-909C-261A29C71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STREAMDROP</a:t>
            </a:r>
          </a:p>
        </p:txBody>
      </p:sp>
      <p:sp>
        <p:nvSpPr>
          <p:cNvPr id="2" name="slide-8-title">
            <a:extLst xmlns:a="http://schemas.openxmlformats.org/drawingml/2006/main">
              <a:ext uri="{FF2B5EF4-FFF2-40B4-BE49-F238E27FC236}">
                <a16:creationId xmlns:a16="http://schemas.microsoft.com/office/drawing/2014/main" id="{0FC443DD-B338-4BBE-8625-36E3C6635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B99583-F8C3-4EBE-A453-C12391725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008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6F146D-A533-4ABF-A9A3-9EAC96496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1695450"/>
            <a:ext cx="1127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ABAF41-6747-4E56-884F-78A62D69E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478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E4B587-B0E7-4563-8A88-3E7116787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8478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792A7F-7F7D-48BC-9BD3-247D219DC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478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4E8AD8-B747-4664-9D31-8DDCAAD8D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22098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455C57-85D5-43F7-B551-4D7D66E83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003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B0264D-DED6-4E51-9484-B702AF246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4003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245E9E-709E-40F4-88E7-3CEF0DEFD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4003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9D0E91-DCEC-4FF6-BE2F-13925C6BF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28956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CA56A5-86BD-422D-9CDA-35765C50E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861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E6B064-251E-40A4-A5B7-BC83788AE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0861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67538B-0566-4A4D-9226-1A5DF3C68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0861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3CD8F0-A03F-44A0-BCE5-2C5BB5F0C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35814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8A0390-B461-4C07-A32D-0135F88BD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719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67F589-BB39-45D4-A625-F82F60313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719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EF65F9-02F5-4EA2-971A-0B1E57C63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7719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67A7EB-ABCA-4A21-BE47-B18804F8A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42672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BCA309-BB4C-4C8F-B2D6-7A543C6D6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577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61023A-D2D4-4504-BA15-B721A6385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4577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17DC27-C128-4D0B-A07A-7C46F14AB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4577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6F70AB5-9B50-4FE4-A1C8-66B37E3C5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49530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1F98DF4-0127-4399-8211-DAA4A9F68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1F5604F-3F81-409C-A638-BE831D4BB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51435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A542922-440C-4440-B4BB-74FE15FCD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1435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9" name="stage-10-title">
            <a:extLst xmlns:a="http://schemas.openxmlformats.org/drawingml/2006/main">
              <a:ext uri="{FF2B5EF4-FFF2-40B4-BE49-F238E27FC236}">
                <a16:creationId xmlns:a16="http://schemas.microsoft.com/office/drawing/2014/main" id="{1E789049-6332-4ED7-BFC9-A9B54B504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1277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06 · SodaGift 리워드 확인</a:t>
            </a:r>
          </a:p>
        </p:txBody>
      </p:sp>
      <p:sp>
        <p:nvSpPr>
          <p:cNvPr id="30" name="stage-10-subtitle">
            <a:extLst xmlns:a="http://schemas.openxmlformats.org/drawingml/2006/main">
              <a:ext uri="{FF2B5EF4-FFF2-40B4-BE49-F238E27FC236}">
                <a16:creationId xmlns:a16="http://schemas.microsoft.com/office/drawing/2014/main" id="{103EAF6F-FD2C-4AA6-969D-9908D5E98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38250"/>
            <a:ext cx="11277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진행 주체  당첨자  ·  SodaGift LINK에서 당첨 리워드를 확인</a:t>
            </a:r>
          </a:p>
        </p:txBody>
      </p:sp>
      <p:sp>
        <p:nvSpPr>
          <p:cNvPr id="31" name="stage-10-page">
            <a:extLst xmlns:a="http://schemas.openxmlformats.org/drawingml/2006/main">
              <a:ext uri="{FF2B5EF4-FFF2-40B4-BE49-F238E27FC236}">
                <a16:creationId xmlns:a16="http://schemas.microsoft.com/office/drawing/2014/main" id="{BE664989-2FEB-4A4C-91B9-623777C3A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008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8A2B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>
                <a:solidFill>
                  <a:srgbClr val="98A2B3"/>
                </a:solidFill>
                <a:latin typeface="Apple SD Gothic Neo"/>
                <a:ea typeface="Apple SD Gothic Neo"/>
                <a:cs typeface="Apple SD Gothic Neo"/>
              </a:rPr>
              <a:t>10</a:t>
            </a:r>
          </a:p>
        </p:txBody>
      </p:sp>
      <p:sp>
        <p:nvSpPr>
          <p:cNvPr id="32" name="gift-landing-frame">
            <a:extLst xmlns:a="http://schemas.openxmlformats.org/drawingml/2006/main">
              <a:ext uri="{FF2B5EF4-FFF2-40B4-BE49-F238E27FC236}">
                <a16:creationId xmlns:a16="http://schemas.microsoft.com/office/drawing/2014/main" id="{482D79B4-4862-4425-8C8E-603AE494D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95450"/>
            <a:ext cx="11277600" cy="4457700"/>
          </a:xfrm>
          <a:prstGeom xmlns:a="http://schemas.openxmlformats.org/drawingml/2006/main" prst="roundRect">
            <a:avLst>
              <a:gd name="adj" fmla="val 1709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9E0E8"/>
            </a:solidFill>
            <a:prstDash val="solid"/>
          </a:ln>
        </p:spPr>
      </p:sp>
      <p:pic>
        <p:nvPicPr>
          <p:cNvPr id="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ea0611e0414a71"/>
          <a:stretch xmlns:a="http://schemas.openxmlformats.org/drawingml/2006/main"/>
        </p:blipFill>
        <p:spPr>
          <a:xfrm xmlns:a="http://schemas.openxmlformats.org/drawingml/2006/main">
            <a:off x="2101336" y="1771650"/>
            <a:ext cx="7989329" cy="43053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81487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14E308F-A22D-4CA9-909C-261A29C71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STREAMDROP</a:t>
            </a:r>
          </a:p>
        </p:txBody>
      </p:sp>
      <p:sp>
        <p:nvSpPr>
          <p:cNvPr id="2" name="slide-8-title">
            <a:extLst xmlns:a="http://schemas.openxmlformats.org/drawingml/2006/main">
              <a:ext uri="{FF2B5EF4-FFF2-40B4-BE49-F238E27FC236}">
                <a16:creationId xmlns:a16="http://schemas.microsoft.com/office/drawing/2014/main" id="{0FC443DD-B338-4BBE-8625-36E3C6635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B99583-F8C3-4EBE-A453-C12391725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008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6F146D-A533-4ABF-A9A3-9EAC96496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1695450"/>
            <a:ext cx="1127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ABAF41-6747-4E56-884F-78A62D69E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478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E4B587-B0E7-4563-8A88-3E7116787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8478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792A7F-7F7D-48BC-9BD3-247D219DC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478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4E8AD8-B747-4664-9D31-8DDCAAD8D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22098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455C57-85D5-43F7-B551-4D7D66E83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003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B0264D-DED6-4E51-9484-B702AF246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4003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245E9E-709E-40F4-88E7-3CEF0DEFD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4003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9D0E91-DCEC-4FF6-BE2F-13925C6BF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28956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CA56A5-86BD-422D-9CDA-35765C50E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861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E6B064-251E-40A4-A5B7-BC83788AE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0861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67538B-0566-4A4D-9226-1A5DF3C68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0861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3CD8F0-A03F-44A0-BCE5-2C5BB5F0C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35814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8A0390-B461-4C07-A32D-0135F88BD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719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67F589-BB39-45D4-A625-F82F60313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719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EF65F9-02F5-4EA2-971A-0B1E57C63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7719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67A7EB-ABCA-4A21-BE47-B18804F8A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42672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BCA309-BB4C-4C8F-B2D6-7A543C6D6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577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61023A-D2D4-4504-BA15-B721A6385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4577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17DC27-C128-4D0B-A07A-7C46F14AB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4577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6F70AB5-9B50-4FE4-A1C8-66B37E3C5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49530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1F98DF4-0127-4399-8211-DAA4A9F68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1F5604F-3F81-409C-A638-BE831D4BB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51435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A542922-440C-4440-B4BB-74FE15FCD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1435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9" name="stage-11-title">
            <a:extLst xmlns:a="http://schemas.openxmlformats.org/drawingml/2006/main">
              <a:ext uri="{FF2B5EF4-FFF2-40B4-BE49-F238E27FC236}">
                <a16:creationId xmlns:a16="http://schemas.microsoft.com/office/drawing/2014/main" id="{BE97B072-CEB6-4BDC-AB08-A5251D7EA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1277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07 · 상품 수령</a:t>
            </a:r>
          </a:p>
        </p:txBody>
      </p:sp>
      <p:sp>
        <p:nvSpPr>
          <p:cNvPr id="30" name="stage-11-subtitle">
            <a:extLst xmlns:a="http://schemas.openxmlformats.org/drawingml/2006/main">
              <a:ext uri="{FF2B5EF4-FFF2-40B4-BE49-F238E27FC236}">
                <a16:creationId xmlns:a16="http://schemas.microsoft.com/office/drawing/2014/main" id="{12B33DB7-1CEB-4710-BBF6-4F968A236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38250"/>
            <a:ext cx="11277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진행 주체  당첨자  ·  선택한 상품의 바코드와 사용 정보를 확인</a:t>
            </a:r>
          </a:p>
        </p:txBody>
      </p:sp>
      <p:sp>
        <p:nvSpPr>
          <p:cNvPr id="31" name="stage-11-page">
            <a:extLst xmlns:a="http://schemas.openxmlformats.org/drawingml/2006/main">
              <a:ext uri="{FF2B5EF4-FFF2-40B4-BE49-F238E27FC236}">
                <a16:creationId xmlns:a16="http://schemas.microsoft.com/office/drawing/2014/main" id="{42E7BD7E-B856-4876-969E-322589D5C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008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8A2B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>
                <a:solidFill>
                  <a:srgbClr val="98A2B3"/>
                </a:solidFill>
                <a:latin typeface="Apple SD Gothic Neo"/>
                <a:ea typeface="Apple SD Gothic Neo"/>
                <a:cs typeface="Apple SD Gothic Neo"/>
              </a:rPr>
              <a:t>11</a:t>
            </a:r>
          </a:p>
        </p:txBody>
      </p:sp>
      <p:sp>
        <p:nvSpPr>
          <p:cNvPr id="32" name="gift-barcode-frame">
            <a:extLst xmlns:a="http://schemas.openxmlformats.org/drawingml/2006/main">
              <a:ext uri="{FF2B5EF4-FFF2-40B4-BE49-F238E27FC236}">
                <a16:creationId xmlns:a16="http://schemas.microsoft.com/office/drawing/2014/main" id="{A9EDB928-28D7-4376-B4E3-1EC4DCF22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695450"/>
            <a:ext cx="7048500" cy="4457700"/>
          </a:xfrm>
          <a:prstGeom xmlns:a="http://schemas.openxmlformats.org/drawingml/2006/main" prst="roundRect">
            <a:avLst>
              <a:gd name="adj" fmla="val 1709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9E0E8"/>
            </a:solidFill>
            <a:prstDash val="solid"/>
          </a:ln>
        </p:spPr>
      </p:sp>
      <p:pic>
        <p:nvPicPr>
          <p:cNvPr id="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7a4c459f7940f5"/>
          <a:stretch xmlns:a="http://schemas.openxmlformats.org/drawingml/2006/main"/>
        </p:blipFill>
        <p:spPr>
          <a:xfrm xmlns:a="http://schemas.openxmlformats.org/drawingml/2006/main">
            <a:off x="3362952" y="1771650"/>
            <a:ext cx="5466096" cy="43053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81487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37B61B-AEF3-4E37-A16A-01CF1D86D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34250" y="0"/>
            <a:ext cx="4857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A0A"/>
          </a:solidFill>
          <a:ln xmlns:a="http://schemas.openxmlformats.org/drawingml/2006/main" w="0">
            <a:solidFill>
              <a:srgbClr val="0A0A0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E31F40-28CD-48B6-8873-1062E8BDD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695450"/>
            <a:ext cx="2038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6DCBF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6FF9AD-541D-4272-8EE5-176504A47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152650"/>
            <a:ext cx="3143250" cy="31432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D8D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50BBAF-E0DD-4721-9C61-0378F8AE5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724150"/>
            <a:ext cx="2000250" cy="20002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DCBF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3AE30F-34ED-45BD-90C5-3ED79D2C0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4480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00BDA7-EF12-4E84-9735-D5BCA15A8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10490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LIVE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CFBE6D-B798-4E35-9D55-406C129B7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5029200"/>
            <a:ext cx="2000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DROP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54D87F-492E-4C72-BDAE-1A44A91A4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95400"/>
            <a:ext cx="619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59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54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4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LIVE DEMO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3E321B-325A-4818-B672-40B28DA06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00300"/>
            <a:ext cx="600075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지금부터 실제 흐름을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직접 보여드리겠습니다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B8C542-D17F-448B-B0E4-8FD8D08AC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71950"/>
            <a:ext cx="581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>Twitch 로그인 → 이벤트 참여 → 추첨 → SodaGift LINK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617FBD-B1D3-4F1B-917A-03827577F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5790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StreamDrop · Team 5</a:t>
            </a:r>
          </a:p>
        </p:txBody>
      </p:sp>
    </p:spTree>
    <p:extLst>
      <p:ext uri="{BB962C8B-B14F-4D97-AF65-F5344CB8AC3E}">
        <p14:creationId xmlns:p14="http://schemas.microsoft.com/office/powerpoint/2010/main" val="137761942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2F615A8-EAB6-4FDE-8DD0-9558B54BB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STREAMDROP</a:t>
            </a:r>
          </a:p>
        </p:txBody>
      </p:sp>
      <p:sp>
        <p:nvSpPr>
          <p:cNvPr id="2" name="slide-9-title">
            <a:extLst xmlns:a="http://schemas.openxmlformats.org/drawingml/2006/main">
              <a:ext uri="{FF2B5EF4-FFF2-40B4-BE49-F238E27FC236}">
                <a16:creationId xmlns:a16="http://schemas.microsoft.com/office/drawing/2014/main" id="{24CB5A32-4795-49FA-A4B7-38DD172BB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Twitch 한계는 우회하고, AI 추천으로 다음 기회를 만든다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6B8FE8-EB6F-40FE-9F30-F0C591ABF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008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>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1BCEAF-FF93-46AE-B409-D1DC9C676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114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85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RISK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64355A-7F3F-4C97-8766-FEABAC176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193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30CFB8-CDCA-4DBF-B289-5C2196866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43150"/>
            <a:ext cx="4400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204 응답 ≠ 실제 수신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27A070-39DB-46A3-83A7-A62124B0A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9718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85E4D2-A12E-4344-8D91-A91522FCC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95600"/>
            <a:ext cx="4400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외부 LINK는 silent drop 가능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D5A653-1373-49C9-9513-5C027A5D2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24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809078-3E9B-4665-8C42-A667DE480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448050"/>
            <a:ext cx="4400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배달 확인 API가 없음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F392E0-8605-4647-A0D1-4B584DD80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76700"/>
            <a:ext cx="95250" cy="952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522013-BF92-41B3-98B7-FD4961662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00500"/>
            <a:ext cx="4400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40EC24-B820-436F-9256-BB8DF1048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629150"/>
            <a:ext cx="95250" cy="952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BDB12A-BEF5-49F0-A358-8F1B17D20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552950"/>
            <a:ext cx="4400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358FE1-BA90-41E0-89B1-FFAB1C49F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886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C45519-3AD7-479D-B656-B3A46C38F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676400"/>
            <a:ext cx="1524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85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>AI NEXT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79152B-70F4-48A0-8E92-67FFAC616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4193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A40808-5738-4C30-8269-7AC257B94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343150"/>
            <a:ext cx="4305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>팔로우 채널·국가를 분석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A3A958-88D5-4810-9760-F5DFFFBE0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718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CC17961-F2C6-4A2C-8B11-1D30E1A3D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95600"/>
            <a:ext cx="4305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>Claude로 상품 Top 3 추천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D42C06D-669B-4488-916E-7660514BF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24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352A182-6C43-4716-BA77-C0498933E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448050"/>
            <a:ext cx="4305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>낙첨자를 후속 구매로 전환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89C1553-8B42-4AC6-83FC-64D09BBBB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076700"/>
            <a:ext cx="95250" cy="952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84FB4A4-4454-4656-B90E-6F9C08DFE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000500"/>
            <a:ext cx="4305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FD01789-2B99-41CC-BA8E-D341C92C2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629150"/>
            <a:ext cx="95250" cy="952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9D896A3-8B7D-4129-8029-879590652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552950"/>
            <a:ext cx="4305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AB92413-BFAF-45E3-802D-E90A0A1DD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772150"/>
            <a:ext cx="1009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귓속말은 보조 경로, AI 추천은 다음 구매 기회로 연결한다.</a:t>
            </a:r>
          </a:p>
        </p:txBody>
      </p:sp>
    </p:spTree>
    <p:extLst>
      <p:ext uri="{BB962C8B-B14F-4D97-AF65-F5344CB8AC3E}">
        <p14:creationId xmlns:p14="http://schemas.microsoft.com/office/powerpoint/2010/main" val="102171736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05852E2-756D-44C5-B2D1-38E242A3B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STREAMDROP</a:t>
            </a:r>
          </a:p>
        </p:txBody>
      </p:sp>
      <p:sp>
        <p:nvSpPr>
          <p:cNvPr id="2" name="slide-12-title">
            <a:extLst xmlns:a="http://schemas.openxmlformats.org/drawingml/2006/main">
              <a:ext uri="{FF2B5EF4-FFF2-40B4-BE49-F238E27FC236}">
                <a16:creationId xmlns:a16="http://schemas.microsoft.com/office/drawing/2014/main" id="{2E771DDC-5D8A-4698-816A-6925E8CD6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라이브 이벤트와 AI 추천이 SodaGift의 반복 주문을 만든다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3D5CC4-9866-4962-B4B6-3818C58EC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008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>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D9A56A-C083-4E93-924E-1B707C495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5300" y="2000250"/>
            <a:ext cx="22669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0">
            <a:solidFill>
              <a:srgbClr val="F5F7F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69ABD1-3F45-4960-B18E-1A6A0F89D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6950"/>
            <a:ext cx="1885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브랜드·주최자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1E6087-EEF1-4E80-81EA-D907080D5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1885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>당첨 전 · 캠페인 준비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0D9816-7867-4F4E-BDF8-0A7C94F8E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419350"/>
            <a:ext cx="34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950" b="1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98A2B3"/>
                </a:solidFill>
                <a:latin typeface="Apple SD Gothic Neo"/>
                <a:ea typeface="Apple SD Gothic Neo"/>
                <a:cs typeface="Apple SD Gothic Neo"/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F7487E-4C29-4C4E-8BD7-0FE986E60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52800" y="2000250"/>
            <a:ext cx="22669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9EEF5"/>
          </a:solidFill>
          <a:ln xmlns:a="http://schemas.openxmlformats.org/drawingml/2006/main" w="0">
            <a:solidFill>
              <a:srgbClr val="E9EEF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4D5281-D1C0-4BFA-98EE-6D940BFFD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266950"/>
            <a:ext cx="1885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1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방송 스트리밍 (Twitch)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01EC9C-408A-4DF9-8B2A-5A249A388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724150"/>
            <a:ext cx="1885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>당첨 전 · 실시간 참여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012E11-8689-449C-A138-F9FE1B5F8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2419350"/>
            <a:ext cx="34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950" b="1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C36965-B2AD-4E75-B1FD-6B1358D26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10300" y="2000250"/>
            <a:ext cx="22669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0A0A0A"/>
          </a:solidFill>
          <a:ln xmlns:a="http://schemas.openxmlformats.org/drawingml/2006/main" w="0">
            <a:solidFill>
              <a:srgbClr val="0A0A0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E2F9BE-C519-41F1-A72B-D81F9FE6A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266950"/>
            <a:ext cx="1885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StreamDrop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15DD6A-1459-423B-9895-C2A0C0222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24150"/>
            <a:ext cx="1885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당첨 순간 · 추첨 확정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31F0AE-5020-432D-B2EB-A0A538DE8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419350"/>
            <a:ext cx="34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950" b="1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71FBF9-09D7-4EC0-B3CF-D043D88B1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067800" y="2000250"/>
            <a:ext cx="22669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C5D86"/>
          </a:solidFill>
          <a:ln xmlns:a="http://schemas.openxmlformats.org/drawingml/2006/main" w="0">
            <a:solidFill>
              <a:srgbClr val="EC5D8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0836E9-E168-4192-8926-A25363D43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266950"/>
            <a:ext cx="1885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SodaGift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A60E62-D4CB-4002-91B7-B8BA7C330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724150"/>
            <a:ext cx="1885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D7E8FF"/>
                </a:solidFill>
                <a:latin typeface="Apple SD Gothic Neo"/>
                <a:ea typeface="Apple SD Gothic Neo"/>
                <a:cs typeface="Apple SD Gothic Neo"/>
              </a:rPr>
              <a:t>당첨 후 · LINK 발급·수령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81BEF1C-40AE-4DF7-B8FE-CB00327BF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481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현실적인 수익 구조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FBB04B-28F0-4AFD-8A9D-D425C14E0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48150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3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캠페인 이용료 + 경품·후속 주문 수수료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A0F49F6-279C-49DC-A546-893406ACA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57750"/>
            <a:ext cx="685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>K-CON · 게임 출시 · 팬미팅 · 스포츠 라이브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86B842-3E23-4384-9738-C301F1504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867150"/>
            <a:ext cx="0" cy="1524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EDDC584-6E95-41BE-8D30-2B62DCFC7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8481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AI 추천 → 재구매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C74EE57-CA26-46AD-9719-6D76728B8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248150"/>
            <a:ext cx="2857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7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행동·취향 데이터 분석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7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맞춤 상품 Top 3 추천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7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후속 구매 → 반복 주문</a:t>
            </a:r>
          </a:p>
        </p:txBody>
      </p:sp>
    </p:spTree>
    <p:extLst>
      <p:ext uri="{BB962C8B-B14F-4D97-AF65-F5344CB8AC3E}">
        <p14:creationId xmlns:p14="http://schemas.microsoft.com/office/powerpoint/2010/main" val="191450368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BA3702-63BE-47E6-BF32-898DF3007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STREAMDROP</a:t>
            </a:r>
          </a:p>
        </p:txBody>
      </p:sp>
      <p:sp>
        <p:nvSpPr>
          <p:cNvPr id="2" name="slide-13-title">
            <a:extLst xmlns:a="http://schemas.openxmlformats.org/drawingml/2006/main">
              <a:ext uri="{FF2B5EF4-FFF2-40B4-BE49-F238E27FC236}">
                <a16:creationId xmlns:a16="http://schemas.microsoft.com/office/drawing/2014/main" id="{0425055D-11B1-4B87-8471-D48F24504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Q&amp;A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838977-11E4-4E80-88C0-005846B28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008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>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1746E8-F187-418B-8771-92762AFF3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1676400"/>
            <a:ext cx="1127760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0A0A0A"/>
          </a:solidFill>
          <a:ln xmlns:a="http://schemas.openxmlformats.org/drawingml/2006/main" w="0">
            <a:solidFill>
              <a:srgbClr val="0A0A0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A4B4E0-3281-487B-86B2-B51AA4248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10477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8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“당첨의 순간을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8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전 세계 팬의 선물로 연결합니다.”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AD0404-8FB8-44E4-99B8-58331D822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052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55725D-8B93-4F0A-87DE-EC000B403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05300"/>
            <a:ext cx="2381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Twitch·OBS로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실시간 참여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6A8A56-F282-4068-AC6A-8F7E62E10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9052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3188E0-1054-4BFC-BB41-055FC7B5F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305300"/>
            <a:ext cx="2381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국가 선택으로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글로벌 지급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E2758C-11EA-441A-B06C-14E4EC837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052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3F0E4F-FEC4-48FB-8523-86E2F55E1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305300"/>
            <a:ext cx="2381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당첨자 승인 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개인 LINK 발급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A36E79-6EF6-4EEB-B6A7-B3159F25C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9052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B75BB7-E843-4808-8066-791106673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305300"/>
            <a:ext cx="2381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반복 이벤트가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SodaGift 주문으로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D0C1CB-4B82-419C-8918-32D48A1BC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695950"/>
            <a:ext cx="1000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StreamDrop × SodaGift — 글로벌 팬 리워드의 가장 짧은 경로</a:t>
            </a:r>
          </a:p>
        </p:txBody>
      </p:sp>
    </p:spTree>
    <p:extLst>
      <p:ext uri="{BB962C8B-B14F-4D97-AF65-F5344CB8AC3E}">
        <p14:creationId xmlns:p14="http://schemas.microsoft.com/office/powerpoint/2010/main" val="90049827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2026-08-30T20:33:49.3470000Z</dcterms:created>
  <dcterms:modified xsi:type="dcterms:W3CDTF">2026-08-30T20:33:49.3470000Z</dcterms:modified>
</coreProperties>
</file>